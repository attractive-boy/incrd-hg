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08000" cy="34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" y="72000"/>
            <a:ext cx="1152000" cy="1800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000000"/>
                </a:solidFill>
                <a:latin typeface="Arial"/>
                <a:ea typeface="Arial"/>
              </a:rPr>
              <a:t>A</a:t>
            </a:r>
            <a:r>
              <a:rPr sz="800" b="1" i="0">
                <a:solidFill>
                  <a:srgbClr val="000000"/>
                </a:solidFill>
                <a:latin typeface="Arial"/>
                <a:ea typeface="Arial"/>
              </a:rPr>
              <a:t>   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68000" y="72000"/>
            <a:ext cx="2016000" cy="1800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000000"/>
                </a:solidFill>
                <a:latin typeface="Arial"/>
                <a:ea typeface="Arial"/>
              </a:rPr>
              <a:t>B</a:t>
            </a:r>
            <a:r>
              <a:rPr sz="800" b="1" i="0">
                <a:solidFill>
                  <a:srgbClr val="000000"/>
                </a:solidFill>
                <a:latin typeface="Arial"/>
                <a:ea typeface="Arial"/>
              </a:rPr>
              <a:t>   Relations (support-only)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8000" y="72000"/>
            <a:ext cx="1440000" cy="1800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000000"/>
                </a:solidFill>
                <a:latin typeface="Arial"/>
                <a:ea typeface="Arial"/>
              </a:rPr>
              <a:t>C</a:t>
            </a:r>
            <a:r>
              <a:rPr sz="800" b="1" i="0">
                <a:solidFill>
                  <a:srgbClr val="000000"/>
                </a:solidFill>
                <a:latin typeface="Arial"/>
                <a:ea typeface="Arial"/>
              </a:rPr>
              <a:t>   Heuristic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12000" y="72000"/>
            <a:ext cx="1224000" cy="1800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000000"/>
                </a:solidFill>
                <a:latin typeface="Arial"/>
                <a:ea typeface="Arial"/>
              </a:rPr>
              <a:t>D</a:t>
            </a:r>
            <a:r>
              <a:rPr sz="800" b="1" i="0">
                <a:solidFill>
                  <a:srgbClr val="000000"/>
                </a:solidFill>
                <a:latin typeface="Arial"/>
                <a:ea typeface="Arial"/>
              </a:rPr>
              <a:t>   Linear readout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" y="324000"/>
            <a:ext cx="1152000" cy="936000"/>
          </a:xfrm>
          <a:prstGeom prst="roundRect">
            <a:avLst>
              <a:gd name="adj" fmla="val 8000"/>
            </a:avLst>
          </a:prstGeom>
          <a:solidFill>
            <a:srgbClr val="E3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57600" bIns="36000"/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750" b="1" i="0">
                <a:solidFill>
                  <a:srgbClr val="000000"/>
                </a:solidFill>
                <a:latin typeface="Arial"/>
                <a:ea typeface="Arial"/>
              </a:rPr>
              <a:t>Training positives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700" b="0" i="0">
                <a:solidFill>
                  <a:srgbClr val="404040"/>
                </a:solidFill>
                <a:latin typeface="Arial"/>
                <a:ea typeface="Arial"/>
              </a:rPr>
              <a:t>miRNA–drug association matrix (MDR or MDS); positives of the training fold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68000" y="324000"/>
            <a:ext cx="2016000" cy="9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9200" y="385200"/>
            <a:ext cx="64800" cy="648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19200" y="352800"/>
            <a:ext cx="1836000" cy="1368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750" b="1" i="0">
                <a:solidFill>
                  <a:srgbClr val="000000"/>
                </a:solidFill>
                <a:latin typeface="Arial"/>
                <a:ea typeface="Arial"/>
              </a:rPr>
              <a:t>Support graph + kNN content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4000" y="522000"/>
            <a:ext cx="432000" cy="1080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707070"/>
                </a:solidFill>
                <a:latin typeface="Arial"/>
                <a:ea typeface="Arial"/>
              </a:rPr>
              <a:t>miRNA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36000" y="522000"/>
            <a:ext cx="432000" cy="1080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707070"/>
                </a:solidFill>
                <a:latin typeface="Arial"/>
                <a:ea typeface="Arial"/>
              </a:rPr>
              <a:t>drug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63200" y="684000"/>
            <a:ext cx="345600" cy="0"/>
          </a:xfrm>
          <a:prstGeom prst="line">
            <a:avLst/>
          </a:prstGeom>
          <a:ln w="11430">
            <a:solidFill>
              <a:srgbClr val="2A78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663200" y="684000"/>
            <a:ext cx="345600" cy="180000"/>
          </a:xfrm>
          <a:prstGeom prst="line">
            <a:avLst/>
          </a:prstGeom>
          <a:ln w="11430">
            <a:solidFill>
              <a:srgbClr val="2A78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663200" y="864000"/>
            <a:ext cx="345600" cy="0"/>
          </a:xfrm>
          <a:prstGeom prst="line">
            <a:avLst/>
          </a:prstGeom>
          <a:ln w="11430">
            <a:solidFill>
              <a:srgbClr val="2A78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663200" y="1044000"/>
            <a:ext cx="345600" cy="0"/>
          </a:xfrm>
          <a:prstGeom prst="line">
            <a:avLst/>
          </a:prstGeom>
          <a:ln w="11430">
            <a:solidFill>
              <a:srgbClr val="2A78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20000" y="907200"/>
            <a:ext cx="0" cy="93600"/>
          </a:xfrm>
          <a:prstGeom prst="line">
            <a:avLst/>
          </a:prstGeom>
          <a:ln w="9525">
            <a:solidFill>
              <a:srgbClr val="404040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52000" y="727200"/>
            <a:ext cx="0" cy="93600"/>
          </a:xfrm>
          <a:prstGeom prst="line">
            <a:avLst/>
          </a:prstGeom>
          <a:ln w="9525">
            <a:solidFill>
              <a:srgbClr val="404040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576800" y="640800"/>
            <a:ext cx="86400" cy="864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008800" y="640800"/>
            <a:ext cx="86400" cy="86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76800" y="820800"/>
            <a:ext cx="86400" cy="864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008800" y="820800"/>
            <a:ext cx="86400" cy="86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576800" y="1000800"/>
            <a:ext cx="86400" cy="864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008800" y="1000800"/>
            <a:ext cx="86400" cy="86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94000" y="522000"/>
            <a:ext cx="954000" cy="720000"/>
          </a:xfrm>
          <a:prstGeom prst="rect">
            <a:avLst/>
          </a:prstGeom>
          <a:noFill/>
          <a:effectLst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Bipartite support graph from training positives (solid)</a:t>
            </a:r>
          </a:p>
          <a:p>
            <a:pPr algn="l">
              <a:lnSpc>
                <a:spcPct val="100000"/>
              </a:lnSpc>
              <a:spcAft>
                <a:spcPts val="12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kNN graph from miRNA / drug similarity (dashed)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8000" y="324000"/>
            <a:ext cx="1440000" cy="93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28000" y="396000"/>
            <a:ext cx="50400" cy="792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28800" y="360000"/>
            <a:ext cx="1303200" cy="8640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750" b="1" i="0">
                <a:solidFill>
                  <a:srgbClr val="000000"/>
                </a:solidFill>
                <a:latin typeface="Arial"/>
                <a:ea typeface="Arial"/>
              </a:rPr>
              <a:t>ctx (33) + diff (52)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Degree, common neighbours, 3- and 5-step paths, rank-16 SVD, attribute support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PPR, Katz, 7-step paths with row / column normalisation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224000" y="792000"/>
            <a:ext cx="144000" cy="0"/>
          </a:xfrm>
          <a:prstGeom prst="line">
            <a:avLst/>
          </a:prstGeom>
          <a:ln w="9525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384000" y="792000"/>
            <a:ext cx="144000" cy="0"/>
          </a:xfrm>
          <a:prstGeom prst="line">
            <a:avLst/>
          </a:prstGeom>
          <a:ln w="9525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68000" y="792000"/>
            <a:ext cx="144000" cy="918000"/>
          </a:xfrm>
          <a:prstGeom prst="bentConnector3">
            <a:avLst/>
          </a:prstGeom>
          <a:ln w="9525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000" y="1368000"/>
            <a:ext cx="1152000" cy="936000"/>
          </a:xfrm>
          <a:prstGeom prst="roundRect">
            <a:avLst>
              <a:gd name="adj" fmla="val 8000"/>
            </a:avLst>
          </a:prstGeom>
          <a:solidFill>
            <a:srgbClr val="F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57600" bIns="36000"/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750" b="1" i="0">
                <a:solidFill>
                  <a:srgbClr val="000000"/>
                </a:solidFill>
                <a:latin typeface="Arial"/>
                <a:ea typeface="Arial"/>
              </a:rPr>
              <a:t>Curation provenance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700" b="0" i="0">
                <a:solidFill>
                  <a:srgbClr val="404040"/>
                </a:solidFill>
                <a:latin typeface="Arial"/>
                <a:ea typeface="Arial"/>
              </a:rPr>
              <a:t>PMID of every association and the cell line / phenotype / disease context of the report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68000" y="1368000"/>
            <a:ext cx="2016000" cy="9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6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29200" y="1429200"/>
            <a:ext cx="64800" cy="64800"/>
          </a:xfrm>
          <a:prstGeom prst="ellipse">
            <a:avLst/>
          </a:prstGeom>
          <a:solidFill>
            <a:srgbClr val="E86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19200" y="1396800"/>
            <a:ext cx="1836000" cy="1368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750" b="1" i="0">
                <a:solidFill>
                  <a:srgbClr val="000000"/>
                </a:solidFill>
                <a:latin typeface="Arial"/>
                <a:ea typeface="Arial"/>
              </a:rPr>
              <a:t>Provenance hypergraph</a:t>
            </a:r>
          </a:p>
        </p:txBody>
      </p:sp>
      <p:sp>
        <p:nvSpPr>
          <p:cNvPr id="35" name="Oval 34"/>
          <p:cNvSpPr/>
          <p:nvPr/>
        </p:nvSpPr>
        <p:spPr>
          <a:xfrm>
            <a:off x="1440000" y="1602000"/>
            <a:ext cx="792000" cy="612000"/>
          </a:xfrm>
          <a:prstGeom prst="ellipse">
            <a:avLst/>
          </a:prstGeom>
          <a:solidFill>
            <a:srgbClr val="E8652E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04000" y="1623600"/>
            <a:ext cx="864000" cy="1080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PMID hyperedge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717200" y="1854000"/>
            <a:ext cx="237600" cy="0"/>
          </a:xfrm>
          <a:prstGeom prst="line">
            <a:avLst/>
          </a:prstGeom>
          <a:ln w="1143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717200" y="2070000"/>
            <a:ext cx="237600" cy="0"/>
          </a:xfrm>
          <a:prstGeom prst="line">
            <a:avLst/>
          </a:prstGeom>
          <a:ln w="1143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717200" y="1868400"/>
            <a:ext cx="237600" cy="187200"/>
          </a:xfrm>
          <a:prstGeom prst="line">
            <a:avLst/>
          </a:prstGeom>
          <a:ln w="13970">
            <a:solidFill>
              <a:srgbClr val="E8652E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1630800" y="1810800"/>
            <a:ext cx="86400" cy="86400"/>
          </a:xfrm>
          <a:prstGeom prst="ellipse">
            <a:avLst/>
          </a:prstGeom>
          <a:solidFill>
            <a:srgbClr val="E86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630800" y="2026800"/>
            <a:ext cx="86400" cy="86400"/>
          </a:xfrm>
          <a:prstGeom prst="ellipse">
            <a:avLst/>
          </a:prstGeom>
          <a:solidFill>
            <a:srgbClr val="E86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954800" y="1810800"/>
            <a:ext cx="86400" cy="86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86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954800" y="2026800"/>
            <a:ext cx="86400" cy="86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86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76000" y="1800000"/>
            <a:ext cx="144000" cy="1080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m₁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76000" y="2016000"/>
            <a:ext cx="144000" cy="1080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m₂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5600" y="1800000"/>
            <a:ext cx="144000" cy="1080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d₁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5600" y="2016000"/>
            <a:ext cx="144000" cy="1080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d₂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94000" y="1566000"/>
            <a:ext cx="954000" cy="720000"/>
          </a:xfrm>
          <a:prstGeom prst="rect">
            <a:avLst/>
          </a:prstGeom>
          <a:noFill/>
          <a:effectLst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Study hyperedge: all pairs reported by one PMID</a:t>
            </a:r>
          </a:p>
          <a:p>
            <a:pPr algn="l">
              <a:lnSpc>
                <a:spcPct val="100000"/>
              </a:lnSpc>
              <a:spcAft>
                <a:spcPts val="12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Context hyperedge: shared cell line / phenotype / disease</a:t>
            </a:r>
          </a:p>
          <a:p>
            <a:pPr algn="l">
              <a:lnSpc>
                <a:spcPct val="100000"/>
              </a:lnSpc>
              <a:spcAft>
                <a:spcPts val="12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Dashed: bridged pair (m₁, d₂)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528000" y="1368000"/>
            <a:ext cx="1440000" cy="93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528000" y="1440000"/>
            <a:ext cx="50400" cy="792000"/>
          </a:xfrm>
          <a:prstGeom prst="rect">
            <a:avLst/>
          </a:prstGeom>
          <a:solidFill>
            <a:srgbClr val="E86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28800" y="1404000"/>
            <a:ext cx="1303200" cy="8640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750" b="1" i="0">
                <a:solidFill>
                  <a:srgbClr val="000000"/>
                </a:solidFill>
                <a:latin typeface="Arial"/>
                <a:ea typeface="Arial"/>
              </a:rPr>
              <a:t>prov (24)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PMID bridging |P(m) ∩ P(d)|, size-weighted, Jaccard (6)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Co-study transfer S(m)·A, A·S(d) (6)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Context-term overlap (4); record statistics (8)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224000" y="1836000"/>
            <a:ext cx="144000" cy="0"/>
          </a:xfrm>
          <a:prstGeom prst="line">
            <a:avLst/>
          </a:prstGeom>
          <a:ln w="9525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384000" y="1836000"/>
            <a:ext cx="144000" cy="0"/>
          </a:xfrm>
          <a:prstGeom prst="line">
            <a:avLst/>
          </a:prstGeom>
          <a:ln w="9525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968000" y="1710000"/>
            <a:ext cx="144000" cy="126000"/>
          </a:xfrm>
          <a:prstGeom prst="line">
            <a:avLst/>
          </a:prstGeom>
          <a:ln w="9525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72000" y="2412000"/>
            <a:ext cx="1152000" cy="936000"/>
          </a:xfrm>
          <a:prstGeom prst="roundRect">
            <a:avLst>
              <a:gd name="adj" fmla="val 8000"/>
            </a:avLst>
          </a:prstGeom>
          <a:solidFill>
            <a:srgbClr val="D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57600" bIns="36000"/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750" b="1" i="0">
                <a:solidFill>
                  <a:srgbClr val="000000"/>
                </a:solidFill>
                <a:latin typeface="Arial"/>
                <a:ea typeface="Arial"/>
              </a:rPr>
              <a:t>Label-free miRNA knowledge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700" b="0" i="0">
                <a:solidFill>
                  <a:srgbClr val="404040"/>
                </a:solidFill>
                <a:latin typeface="Arial"/>
                <a:ea typeface="Arial"/>
              </a:rPr>
              <a:t>HMDD v4 disease spectrum; miRNA name and seed family; degree in the other phenotype matrix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368000" y="2412000"/>
            <a:ext cx="2016000" cy="9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59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429200" y="2473199"/>
            <a:ext cx="64800" cy="64800"/>
          </a:xfrm>
          <a:prstGeom prst="ellipse">
            <a:avLst/>
          </a:prstGeom>
          <a:solidFill>
            <a:srgbClr val="159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519200" y="2440800"/>
            <a:ext cx="1836000" cy="1368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750" b="1" i="0">
                <a:solidFill>
                  <a:srgbClr val="000000"/>
                </a:solidFill>
                <a:latin typeface="Arial"/>
                <a:ea typeface="Arial"/>
              </a:rPr>
              <a:t>miRNA side-information relations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1587600" y="2768400"/>
            <a:ext cx="104400" cy="201600"/>
          </a:xfrm>
          <a:prstGeom prst="line">
            <a:avLst/>
          </a:prstGeom>
          <a:ln w="11430">
            <a:solidFill>
              <a:srgbClr val="159C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1692000" y="2700000"/>
            <a:ext cx="684000" cy="136800"/>
          </a:xfrm>
          <a:prstGeom prst="roundRect">
            <a:avLst>
              <a:gd name="adj" fmla="val 30000"/>
            </a:avLst>
          </a:prstGeom>
          <a:solidFill>
            <a:srgbClr val="D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0800" tIns="0" rIns="10800" bIns="0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000000"/>
                </a:solidFill>
                <a:latin typeface="Arial"/>
                <a:ea typeface="Arial"/>
              </a:rPr>
              <a:t>miRNA family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587600" y="2970000"/>
            <a:ext cx="104400" cy="0"/>
          </a:xfrm>
          <a:prstGeom prst="line">
            <a:avLst/>
          </a:prstGeom>
          <a:ln w="11430">
            <a:solidFill>
              <a:srgbClr val="159C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1692000" y="2901600"/>
            <a:ext cx="684000" cy="136800"/>
          </a:xfrm>
          <a:prstGeom prst="roundRect">
            <a:avLst>
              <a:gd name="adj" fmla="val 30000"/>
            </a:avLst>
          </a:prstGeom>
          <a:solidFill>
            <a:srgbClr val="D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0800" tIns="0" rIns="10800" bIns="0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000000"/>
                </a:solidFill>
                <a:latin typeface="Arial"/>
                <a:ea typeface="Arial"/>
              </a:rPr>
              <a:t>HMDD diseases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587600" y="2970000"/>
            <a:ext cx="104400" cy="201600"/>
          </a:xfrm>
          <a:prstGeom prst="line">
            <a:avLst/>
          </a:prstGeom>
          <a:ln w="11430">
            <a:solidFill>
              <a:srgbClr val="159C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1692000" y="3103200"/>
            <a:ext cx="684000" cy="136800"/>
          </a:xfrm>
          <a:prstGeom prst="roundRect">
            <a:avLst>
              <a:gd name="adj" fmla="val 30000"/>
            </a:avLst>
          </a:prstGeom>
          <a:solidFill>
            <a:srgbClr val="D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0800" tIns="0" rIns="10800" bIns="0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000000"/>
                </a:solidFill>
                <a:latin typeface="Arial"/>
                <a:ea typeface="Arial"/>
              </a:rPr>
              <a:t>cross-phenotype</a:t>
            </a:r>
          </a:p>
        </p:txBody>
      </p:sp>
      <p:sp>
        <p:nvSpPr>
          <p:cNvPr id="65" name="Oval 64"/>
          <p:cNvSpPr/>
          <p:nvPr/>
        </p:nvSpPr>
        <p:spPr>
          <a:xfrm>
            <a:off x="1472400" y="2912400"/>
            <a:ext cx="115200" cy="115200"/>
          </a:xfrm>
          <a:prstGeom prst="ellipse">
            <a:avLst/>
          </a:prstGeom>
          <a:solidFill>
            <a:srgbClr val="159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404000" y="2790000"/>
            <a:ext cx="252000" cy="1080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707070"/>
                </a:solidFill>
                <a:latin typeface="Arial"/>
                <a:ea typeface="Arial"/>
              </a:rPr>
              <a:t>miRNA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94000" y="2610000"/>
            <a:ext cx="954000" cy="720000"/>
          </a:xfrm>
          <a:prstGeom prst="rect">
            <a:avLst/>
          </a:prstGeom>
          <a:noFill/>
          <a:effectLst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miRNA → family / disease / cross-phenotype degree</a:t>
            </a:r>
          </a:p>
          <a:p>
            <a:pPr algn="l">
              <a:lnSpc>
                <a:spcPct val="100000"/>
              </a:lnSpc>
              <a:spcAft>
                <a:spcPts val="12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Adds information for zero- and low-degree miRNAs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528000" y="2412000"/>
            <a:ext cx="1440000" cy="93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528000" y="2484000"/>
            <a:ext cx="50400" cy="792000"/>
          </a:xfrm>
          <a:prstGeom prst="rect">
            <a:avLst/>
          </a:prstGeom>
          <a:solidFill>
            <a:srgbClr val="159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28800" y="2448000"/>
            <a:ext cx="1303200" cy="8640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750" b="1" i="0">
                <a:solidFill>
                  <a:srgbClr val="000000"/>
                </a:solidFill>
                <a:latin typeface="Arial"/>
                <a:ea typeface="Arial"/>
              </a:rPr>
              <a:t>mprior (19)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Name family (5); seed family (5)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HMDD disease bridge Σ_z H[m, z]·(HᵀA)[z, d] (7)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Cross-phenotype degree (2)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224000" y="2880000"/>
            <a:ext cx="144000" cy="0"/>
          </a:xfrm>
          <a:prstGeom prst="line">
            <a:avLst/>
          </a:prstGeom>
          <a:ln w="9525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384000" y="2880000"/>
            <a:ext cx="144000" cy="0"/>
          </a:xfrm>
          <a:prstGeom prst="line">
            <a:avLst/>
          </a:prstGeom>
          <a:ln w="9525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968000" y="1710000"/>
            <a:ext cx="144000" cy="1170000"/>
          </a:xfrm>
          <a:prstGeom prst="bentConnector3">
            <a:avLst/>
          </a:prstGeom>
          <a:ln w="9525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5112000" y="324000"/>
            <a:ext cx="1224000" cy="936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7600" tIns="36000" rIns="50400" bIns="36000"/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750" b="1" i="0">
                <a:solidFill>
                  <a:srgbClr val="000000"/>
                </a:solidFill>
                <a:latin typeface="Arial"/>
                <a:ea typeface="Arial"/>
              </a:rPr>
              <a:t>Leak-free cross-fitting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Training rows: K = 10 inner folds; a pair never enters its own support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Test rows: all training positives as support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12000" y="1458000"/>
            <a:ext cx="1224000" cy="1152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Concatenate 128 columns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112000" y="1620000"/>
            <a:ext cx="788906" cy="180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918906" y="1620000"/>
            <a:ext cx="222750" cy="180000"/>
          </a:xfrm>
          <a:prstGeom prst="rect">
            <a:avLst/>
          </a:prstGeom>
          <a:solidFill>
            <a:srgbClr val="E86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159656" y="1620000"/>
            <a:ext cx="176343" cy="180000"/>
          </a:xfrm>
          <a:prstGeom prst="rect">
            <a:avLst/>
          </a:prstGeom>
          <a:solidFill>
            <a:srgbClr val="159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130000" y="1864800"/>
            <a:ext cx="72000" cy="72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227200" y="1843200"/>
            <a:ext cx="1098000" cy="1152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ctx + diff (85)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30000" y="1972800"/>
            <a:ext cx="72000" cy="72000"/>
          </a:xfrm>
          <a:prstGeom prst="rect">
            <a:avLst/>
          </a:prstGeom>
          <a:solidFill>
            <a:srgbClr val="E86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227200" y="1951200"/>
            <a:ext cx="1098000" cy="1152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prov (24)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130000" y="2080800"/>
            <a:ext cx="72000" cy="72000"/>
          </a:xfrm>
          <a:prstGeom prst="rect">
            <a:avLst/>
          </a:prstGeom>
          <a:solidFill>
            <a:srgbClr val="159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27200" y="2059200"/>
            <a:ext cx="1098000" cy="1152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mprior (19)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5724000" y="2174400"/>
            <a:ext cx="0" cy="237600"/>
          </a:xfrm>
          <a:prstGeom prst="line">
            <a:avLst/>
          </a:prstGeom>
          <a:ln w="9525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5112000" y="2412000"/>
            <a:ext cx="1224000" cy="57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21600" rIns="36000" bIns="21600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signed log1p → z-score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750" b="1" i="0">
                <a:solidFill>
                  <a:srgbClr val="000000"/>
                </a:solidFill>
                <a:latin typeface="Arial"/>
                <a:ea typeface="Arial"/>
              </a:rPr>
              <a:t>score(m, d) = wᵀz + b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logistic regression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404040"/>
                </a:solidFill>
                <a:latin typeface="Arial"/>
                <a:ea typeface="Arial"/>
              </a:rPr>
              <a:t>≈130 parameters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5724000" y="2988000"/>
            <a:ext cx="0" cy="126000"/>
          </a:xfrm>
          <a:prstGeom prst="line">
            <a:avLst/>
          </a:prstGeom>
          <a:ln w="9525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5292000" y="3114000"/>
            <a:ext cx="864000" cy="2160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</a:rPr>
              <a:t>score(m, 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