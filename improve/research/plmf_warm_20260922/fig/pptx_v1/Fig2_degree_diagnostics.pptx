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8000" cy="36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test positives</c:v>
                </c:pt>
              </c:strCache>
            </c:strRef>
          </c:tx>
          <c:spPr>
            <a:solidFill>
              <a:srgbClr val="B5B5B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</c:v>
                </c:pt>
                <c:pt idx="1">
                  <c:v>10.4</c:v>
                </c:pt>
                <c:pt idx="2">
                  <c:v>19.9</c:v>
                </c:pt>
                <c:pt idx="3">
                  <c:v>29.2</c:v>
                </c:pt>
                <c:pt idx="4">
                  <c:v>26.8</c:v>
                </c:pt>
                <c:pt idx="5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ranking loss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13.4</c:v>
                </c:pt>
                <c:pt idx="1">
                  <c:v>19.6</c:v>
                </c:pt>
                <c:pt idx="2">
                  <c:v>22.5</c:v>
                </c:pt>
                <c:pt idx="3">
                  <c:v>26.6</c:v>
                </c:pt>
                <c:pt idx="4">
                  <c:v>15.8</c:v>
                </c:pt>
                <c:pt idx="5">
                  <c:v>2.1</c:v>
                </c:pt>
              </c:numCache>
            </c:numRef>
          </c:val>
        </c:ser>
        <c:gapWidth val="1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700" b="0" i="0">
                    <a:solidFill>
                      <a:srgbClr val="000000"/>
                    </a:solidFill>
                    <a:latin typeface="Arial"/>
                    <a:ea typeface="Arial"/>
                  </a:rPr>
                  <a:t>miRNA degree in the training support graph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000000"/>
            </a:solidFill>
          </a:ln>
        </c:spPr>
        <c:txPr>
          <a:bodyPr/>
          <a:lstStyle/>
          <a:p>
            <a:pPr>
              <a:defRPr sz="700">
                <a:solidFill>
                  <a:srgbClr val="000000"/>
                </a:solidFill>
                <a:latin typeface="Arial"/>
                <a:ea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 b="0" i="0">
                    <a:solidFill>
                      <a:srgbClr val="000000"/>
                    </a:solidFill>
                    <a:latin typeface="Arial"/>
                    <a:ea typeface="Arial"/>
                  </a:rPr>
                  <a:t>Share (%)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6350">
            <a:solidFill>
              <a:srgbClr val="000000"/>
            </a:solidFill>
          </a:ln>
        </c:spPr>
        <c:txPr>
          <a:bodyPr/>
          <a:lstStyle/>
          <a:p>
            <a:pPr>
              <a:defRPr sz="700">
                <a:solidFill>
                  <a:srgbClr val="000000"/>
                </a:solidFill>
                <a:latin typeface="Arial"/>
                <a:ea typeface="Arial"/>
              </a:defRPr>
            </a:pPr>
          </a:p>
        </c:txPr>
        <c:crossAx val="-2068027336"/>
        <c:crosses val="autoZero"/>
        <c:majorUnit val="10.0"/>
      </c:valAx>
    </c:plotArea>
    <c:legend>
      <c:legendPos val="t"/>
      <c:overlay val="0"/>
      <c:txPr>
        <a:bodyPr/>
        <a:lstStyle/>
        <a:p>
          <a:pPr>
            <a:defRPr sz="700">
              <a:latin typeface="Arial"/>
              <a:ea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700">
          <a:solidFill>
            <a:srgbClr val="000000"/>
          </a:solidFill>
          <a:latin typeface="Arial"/>
          <a:ea typeface="Arial"/>
        </a:defRPr>
      </a:pPr>
      <a:endParaRPr lang="en-US">
        <a:latin typeface="Arial"/>
        <a:ea typeface="Arial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(ctx + diff)</c:v>
                </c:pt>
              </c:strCache>
            </c:strRef>
          </c:tx>
          <c:spPr>
            <a:solidFill>
              <a:srgbClr val="B5B5B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0.054</c:v>
                </c:pt>
                <c:pt idx="1">
                  <c:v>0.094</c:v>
                </c:pt>
                <c:pt idx="2">
                  <c:v>0.055</c:v>
                </c:pt>
                <c:pt idx="3">
                  <c:v>0.045</c:v>
                </c:pt>
                <c:pt idx="4">
                  <c:v>0.03</c:v>
                </c:pt>
                <c:pt idx="5">
                  <c:v>0.029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PHL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0.05</c:v>
                </c:pt>
                <c:pt idx="1">
                  <c:v>0.081</c:v>
                </c:pt>
                <c:pt idx="2">
                  <c:v>0.047</c:v>
                </c:pt>
                <c:pt idx="3">
                  <c:v>0.039</c:v>
                </c:pt>
                <c:pt idx="4">
                  <c:v>0.027</c:v>
                </c:pt>
                <c:pt idx="5">
                  <c:v>0.031</c:v>
                </c:pt>
              </c:numCache>
            </c:numRef>
          </c:val>
        </c:ser>
        <c:gapWidth val="1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700" b="0" i="0">
                    <a:solidFill>
                      <a:srgbClr val="000000"/>
                    </a:solidFill>
                    <a:latin typeface="Arial"/>
                    <a:ea typeface="Arial"/>
                  </a:rPr>
                  <a:t>miRNA degree in the training support graph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000000"/>
            </a:solidFill>
          </a:ln>
        </c:spPr>
        <c:txPr>
          <a:bodyPr/>
          <a:lstStyle/>
          <a:p>
            <a:pPr>
              <a:defRPr sz="700">
                <a:solidFill>
                  <a:srgbClr val="000000"/>
                </a:solidFill>
                <a:latin typeface="Arial"/>
                <a:ea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"/>
          <c:min val="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 b="0" i="0">
                    <a:solidFill>
                      <a:srgbClr val="000000"/>
                    </a:solidFill>
                    <a:latin typeface="Arial"/>
                    <a:ea typeface="Arial"/>
                  </a:rPr>
                  <a:t>Mean loss per positive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6350">
            <a:solidFill>
              <a:srgbClr val="000000"/>
            </a:solidFill>
          </a:ln>
        </c:spPr>
        <c:txPr>
          <a:bodyPr/>
          <a:lstStyle/>
          <a:p>
            <a:pPr>
              <a:defRPr sz="700">
                <a:solidFill>
                  <a:srgbClr val="000000"/>
                </a:solidFill>
                <a:latin typeface="Arial"/>
                <a:ea typeface="Arial"/>
              </a:defRPr>
            </a:pPr>
          </a:p>
        </c:txPr>
        <c:crossAx val="-2068027336"/>
        <c:crosses val="autoZero"/>
        <c:majorUnit val="0.02"/>
      </c:valAx>
    </c:plotArea>
    <c:legend>
      <c:legendPos val="t"/>
      <c:overlay val="0"/>
      <c:txPr>
        <a:bodyPr/>
        <a:lstStyle/>
        <a:p>
          <a:pPr>
            <a:defRPr sz="700">
              <a:latin typeface="Arial"/>
              <a:ea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700">
          <a:solidFill>
            <a:srgbClr val="000000"/>
          </a:solidFill>
          <a:latin typeface="Arial"/>
          <a:ea typeface="Arial"/>
        </a:defRPr>
      </a:pPr>
      <a:endParaRPr lang="en-US">
        <a:latin typeface="Arial"/>
        <a:ea typeface="Arial"/>
      </a:endParaR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test positives</c:v>
                </c:pt>
              </c:strCache>
            </c:strRef>
          </c:tx>
          <c:spPr>
            <a:solidFill>
              <a:srgbClr val="B5B5B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10.7</c:v>
                </c:pt>
                <c:pt idx="1">
                  <c:v>11.5</c:v>
                </c:pt>
                <c:pt idx="2">
                  <c:v>17.7</c:v>
                </c:pt>
                <c:pt idx="3">
                  <c:v>28.9</c:v>
                </c:pt>
                <c:pt idx="4">
                  <c:v>28.1</c:v>
                </c:pt>
                <c:pt idx="5">
                  <c:v>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ranking loss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12.3</c:v>
                </c:pt>
                <c:pt idx="1">
                  <c:v>22.3</c:v>
                </c:pt>
                <c:pt idx="2">
                  <c:v>22.3</c:v>
                </c:pt>
                <c:pt idx="3">
                  <c:v>25.6</c:v>
                </c:pt>
                <c:pt idx="4">
                  <c:v>16.1</c:v>
                </c:pt>
                <c:pt idx="5">
                  <c:v>1.4</c:v>
                </c:pt>
              </c:numCache>
            </c:numRef>
          </c:val>
        </c:ser>
        <c:gapWidth val="1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700" b="0" i="0">
                    <a:solidFill>
                      <a:srgbClr val="000000"/>
                    </a:solidFill>
                    <a:latin typeface="Arial"/>
                    <a:ea typeface="Arial"/>
                  </a:rPr>
                  <a:t>miRNA degree in the training support graph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000000"/>
            </a:solidFill>
          </a:ln>
        </c:spPr>
        <c:txPr>
          <a:bodyPr/>
          <a:lstStyle/>
          <a:p>
            <a:pPr>
              <a:defRPr sz="700">
                <a:solidFill>
                  <a:srgbClr val="000000"/>
                </a:solidFill>
                <a:latin typeface="Arial"/>
                <a:ea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 b="0" i="0">
                    <a:solidFill>
                      <a:srgbClr val="000000"/>
                    </a:solidFill>
                    <a:latin typeface="Arial"/>
                    <a:ea typeface="Arial"/>
                  </a:rPr>
                  <a:t>Share (%)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6350">
            <a:solidFill>
              <a:srgbClr val="000000"/>
            </a:solidFill>
          </a:ln>
        </c:spPr>
        <c:txPr>
          <a:bodyPr/>
          <a:lstStyle/>
          <a:p>
            <a:pPr>
              <a:defRPr sz="700">
                <a:solidFill>
                  <a:srgbClr val="000000"/>
                </a:solidFill>
                <a:latin typeface="Arial"/>
                <a:ea typeface="Arial"/>
              </a:defRPr>
            </a:pPr>
          </a:p>
        </c:txPr>
        <c:crossAx val="-2068027336"/>
        <c:crosses val="autoZero"/>
        <c:majorUnit val="10.0"/>
      </c:valAx>
    </c:plotArea>
    <c:legend>
      <c:legendPos val="t"/>
      <c:overlay val="0"/>
      <c:txPr>
        <a:bodyPr/>
        <a:lstStyle/>
        <a:p>
          <a:pPr>
            <a:defRPr sz="700">
              <a:latin typeface="Arial"/>
              <a:ea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700">
          <a:solidFill>
            <a:srgbClr val="000000"/>
          </a:solidFill>
          <a:latin typeface="Arial"/>
          <a:ea typeface="Arial"/>
        </a:defRPr>
      </a:pPr>
      <a:endParaRPr lang="en-US">
        <a:latin typeface="Arial"/>
        <a:ea typeface="Arial"/>
      </a:endParaR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(ctx + diff)</c:v>
                </c:pt>
              </c:strCache>
            </c:strRef>
          </c:tx>
          <c:spPr>
            <a:solidFill>
              <a:srgbClr val="B5B5B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0.043</c:v>
                </c:pt>
                <c:pt idx="1">
                  <c:v>0.088</c:v>
                </c:pt>
                <c:pt idx="2">
                  <c:v>0.058</c:v>
                </c:pt>
                <c:pt idx="3">
                  <c:v>0.041</c:v>
                </c:pt>
                <c:pt idx="4">
                  <c:v>0.027</c:v>
                </c:pt>
                <c:pt idx="5">
                  <c:v>0.022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PHL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0.038</c:v>
                </c:pt>
                <c:pt idx="1">
                  <c:v>0.076</c:v>
                </c:pt>
                <c:pt idx="2">
                  <c:v>0.053</c:v>
                </c:pt>
                <c:pt idx="3">
                  <c:v>0.036</c:v>
                </c:pt>
                <c:pt idx="4">
                  <c:v>0.025</c:v>
                </c:pt>
                <c:pt idx="5">
                  <c:v>0.023</c:v>
                </c:pt>
              </c:numCache>
            </c:numRef>
          </c:val>
        </c:ser>
        <c:gapWidth val="1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700" b="0" i="0">
                    <a:solidFill>
                      <a:srgbClr val="000000"/>
                    </a:solidFill>
                    <a:latin typeface="Arial"/>
                    <a:ea typeface="Arial"/>
                  </a:rPr>
                  <a:t>miRNA degree in the training support graph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000000"/>
            </a:solidFill>
          </a:ln>
        </c:spPr>
        <c:txPr>
          <a:bodyPr/>
          <a:lstStyle/>
          <a:p>
            <a:pPr>
              <a:defRPr sz="700">
                <a:solidFill>
                  <a:srgbClr val="000000"/>
                </a:solidFill>
                <a:latin typeface="Arial"/>
                <a:ea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"/>
          <c:min val="0.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 b="0" i="0">
                    <a:solidFill>
                      <a:srgbClr val="000000"/>
                    </a:solidFill>
                    <a:latin typeface="Arial"/>
                    <a:ea typeface="Arial"/>
                  </a:rPr>
                  <a:t>Mean loss per positive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6350">
            <a:solidFill>
              <a:srgbClr val="000000"/>
            </a:solidFill>
          </a:ln>
        </c:spPr>
        <c:txPr>
          <a:bodyPr/>
          <a:lstStyle/>
          <a:p>
            <a:pPr>
              <a:defRPr sz="700">
                <a:solidFill>
                  <a:srgbClr val="000000"/>
                </a:solidFill>
                <a:latin typeface="Arial"/>
                <a:ea typeface="Arial"/>
              </a:defRPr>
            </a:pPr>
          </a:p>
        </c:txPr>
        <c:crossAx val="-2068027336"/>
        <c:crosses val="autoZero"/>
        <c:majorUnit val="0.02"/>
      </c:valAx>
    </c:plotArea>
    <c:legend>
      <c:legendPos val="t"/>
      <c:overlay val="0"/>
      <c:txPr>
        <a:bodyPr/>
        <a:lstStyle/>
        <a:p>
          <a:pPr>
            <a:defRPr sz="700">
              <a:latin typeface="Arial"/>
              <a:ea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700">
          <a:solidFill>
            <a:srgbClr val="000000"/>
          </a:solidFill>
          <a:latin typeface="Arial"/>
          <a:ea typeface="Arial"/>
        </a:defRPr>
      </a:pPr>
      <a:endParaRPr lang="en-US">
        <a:latin typeface="Arial"/>
        <a:ea typeface="Arial"/>
      </a:endParaR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" y="7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sz="800" b="1" i="0">
                <a:solidFill>
                  <a:srgbClr val="000000"/>
                </a:solidFill>
                <a:latin typeface="Arial"/>
                <a:ea typeface="Arial"/>
              </a:rPr>
              <a:t>   MDR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2000" y="216000"/>
          <a:ext cx="3060000" cy="154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76000" y="7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</a:rPr>
              <a:t>B</a:t>
            </a:r>
            <a:r>
              <a:rPr sz="800" b="1" i="0">
                <a:solidFill>
                  <a:srgbClr val="000000"/>
                </a:solidFill>
                <a:latin typeface="Arial"/>
                <a:ea typeface="Arial"/>
              </a:rPr>
              <a:t>   MDR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276000" y="216000"/>
          <a:ext cx="3060000" cy="1548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000" y="18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</a:rPr>
              <a:t>C</a:t>
            </a:r>
            <a:r>
              <a:rPr sz="800" b="1" i="0">
                <a:solidFill>
                  <a:srgbClr val="000000"/>
                </a:solidFill>
                <a:latin typeface="Arial"/>
                <a:ea typeface="Arial"/>
              </a:rPr>
              <a:t>   MDS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000" y="1980000"/>
          <a:ext cx="3060000" cy="1548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76000" y="183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</a:rPr>
              <a:t>D</a:t>
            </a:r>
            <a:r>
              <a:rPr sz="800" b="1" i="0">
                <a:solidFill>
                  <a:srgbClr val="000000"/>
                </a:solidFill>
                <a:latin typeface="Arial"/>
                <a:ea typeface="Arial"/>
              </a:rPr>
              <a:t>   MDS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276000" y="1980000"/>
          <a:ext cx="3060000" cy="1548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