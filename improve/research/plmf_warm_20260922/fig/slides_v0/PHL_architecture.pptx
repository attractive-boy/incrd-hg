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.xlsx"/></Relationships>
</file>

<file path=ppt/charts/_rels/chart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6.xlsx"/></Relationships>
</file>

<file path=ppt/charts/_rels/chart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7.xlsx"/></Relationships>
</file>

<file path=ppt/charts/_rels/chart8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8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正例占比 %</c:v>
                </c:pt>
              </c:strCache>
            </c:strRef>
          </c:tx>
          <c:spPr>
            <a:solidFill>
              <a:srgbClr val="C3C2B7"/>
            </a:solidFill>
            <a:ln>
              <a:noFill/>
            </a:ln>
          </c:spPr>
          <c:cat>
            <c:strRef>
              <c:f>Sheet1!$A$2:$A$7</c:f>
              <c:strCache>
                <c:ptCount val="6"/>
                <c:pt idx="0">
                  <c:v>0</c:v>
                </c:pt>
                <c:pt idx="1">
                  <c:v>1</c:v>
                </c:pt>
                <c:pt idx="2">
                  <c:v>2–3</c:v>
                </c:pt>
                <c:pt idx="3">
                  <c:v>4–7</c:v>
                </c:pt>
                <c:pt idx="4">
                  <c:v>8–15</c:v>
                </c:pt>
                <c:pt idx="5">
                  <c:v>16+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10.0</c:v>
                </c:pt>
                <c:pt idx="1">
                  <c:v>10.4</c:v>
                </c:pt>
                <c:pt idx="2">
                  <c:v>19.9</c:v>
                </c:pt>
                <c:pt idx="3">
                  <c:v>29.2</c:v>
                </c:pt>
                <c:pt idx="4">
                  <c:v>26.8</c:v>
                </c:pt>
                <c:pt idx="5">
                  <c:v>3.7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损失占比 %</c:v>
                </c:pt>
              </c:strCache>
            </c:strRef>
          </c:tx>
          <c:spPr>
            <a:solidFill>
              <a:srgbClr val="2A78D6"/>
            </a:solidFill>
            <a:ln>
              <a:noFill/>
            </a:ln>
          </c:spPr>
          <c:cat>
            <c:strRef>
              <c:f>Sheet1!$A$2:$A$7</c:f>
              <c:strCache>
                <c:ptCount val="6"/>
                <c:pt idx="0">
                  <c:v>0</c:v>
                </c:pt>
                <c:pt idx="1">
                  <c:v>1</c:v>
                </c:pt>
                <c:pt idx="2">
                  <c:v>2–3</c:v>
                </c:pt>
                <c:pt idx="3">
                  <c:v>4–7</c:v>
                </c:pt>
                <c:pt idx="4">
                  <c:v>8–15</c:v>
                </c:pt>
                <c:pt idx="5">
                  <c:v>16+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13.4</c:v>
                </c:pt>
                <c:pt idx="1">
                  <c:v>19.6</c:v>
                </c:pt>
                <c:pt idx="2">
                  <c:v>22.5</c:v>
                </c:pt>
                <c:pt idx="3">
                  <c:v>26.6</c:v>
                </c:pt>
                <c:pt idx="4">
                  <c:v>15.8</c:v>
                </c:pt>
                <c:pt idx="5">
                  <c:v>2.1</c:v>
                </c:pt>
              </c:numCache>
            </c:numRef>
          </c:val>
        </c:ser>
        <c:gapWidth val="240"/>
        <c:overlap val="-15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ln w="9525">
            <a:solidFill>
              <a:srgbClr val="C3C2B7"/>
            </a:solidFill>
          </a:ln>
        </c:spPr>
        <c:txPr>
          <a:bodyPr/>
          <a:lstStyle/>
          <a:p>
            <a:pPr>
              <a:defRPr sz="800">
                <a:solidFill>
                  <a:srgbClr val="52514E"/>
                </a:solidFill>
                <a:latin typeface="Microsoft YaHei"/>
                <a:ea typeface="Microsoft YaHei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30.0"/>
          <c:min val="0.0"/>
        </c:scaling>
        <c:delete val="0"/>
        <c:axPos val="l"/>
        <c:majorGridlines>
          <c:spPr>
            <a:ln w="6350">
              <a:solidFill>
                <a:srgbClr val="E1E0D9"/>
              </a:solidFill>
            </a:ln>
          </c:spPr>
        </c:majorGridlines>
        <c:numFmt formatCode="0&quot;%&quot;" sourceLinked="0"/>
        <c:majorTickMark val="none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800">
                <a:solidFill>
                  <a:srgbClr val="898781"/>
                </a:solidFill>
                <a:latin typeface="Microsoft YaHei"/>
                <a:ea typeface="Microsoft YaHei"/>
              </a:defRPr>
            </a:pPr>
          </a:p>
        </c:txPr>
        <c:crossAx val="-2068027336"/>
        <c:crosses val="autoZero"/>
        <c:majorUnit val="10.0"/>
      </c:valAx>
    </c:plotArea>
    <c:legend>
      <c:legendPos val="t"/>
      <c:overlay val="0"/>
      <c:txPr>
        <a:bodyPr/>
        <a:lstStyle/>
        <a:p>
          <a:pPr>
            <a:defRPr sz="800">
              <a:latin typeface="Microsoft YaHei"/>
              <a:ea typeface="Microsoft YaHei"/>
            </a:defRPr>
          </a:pPr>
        </a:p>
      </c:txPr>
    </c:legend>
    <c:dispBlanksAs val="gap"/>
  </c:chart>
  <c:spPr>
    <a:noFill/>
    <a:ln>
      <a:noFill/>
    </a:ln>
  </c:spPr>
  <c:txPr>
    <a:bodyPr/>
    <a:lstStyle/>
    <a:p>
      <a:pPr>
        <a:defRPr sz="800">
          <a:solidFill>
            <a:srgbClr val="52514E"/>
          </a:solidFill>
          <a:latin typeface="Microsoft YaHei"/>
          <a:ea typeface="Microsoft YaHei"/>
        </a:defRPr>
      </a:pPr>
      <a:endParaRPr lang="en-US">
        <a:latin typeface="Microsoft YaHei"/>
        <a:ea typeface="Microsoft YaHei"/>
      </a:endParaRPr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基线 ctx+diff × LR</c:v>
                </c:pt>
              </c:strCache>
            </c:strRef>
          </c:tx>
          <c:spPr>
            <a:solidFill>
              <a:srgbClr val="C3C2B7"/>
            </a:solidFill>
            <a:ln>
              <a:noFill/>
            </a:ln>
          </c:spPr>
          <c:cat>
            <c:strRef>
              <c:f>Sheet1!$A$2:$A$7</c:f>
              <c:strCache>
                <c:ptCount val="6"/>
                <c:pt idx="0">
                  <c:v>0</c:v>
                </c:pt>
                <c:pt idx="1">
                  <c:v>1</c:v>
                </c:pt>
                <c:pt idx="2">
                  <c:v>2–3</c:v>
                </c:pt>
                <c:pt idx="3">
                  <c:v>4–7</c:v>
                </c:pt>
                <c:pt idx="4">
                  <c:v>8–15</c:v>
                </c:pt>
                <c:pt idx="5">
                  <c:v>16+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0.054</c:v>
                </c:pt>
                <c:pt idx="1">
                  <c:v>0.094</c:v>
                </c:pt>
                <c:pt idx="2">
                  <c:v>0.055</c:v>
                </c:pt>
                <c:pt idx="3">
                  <c:v>0.045</c:v>
                </c:pt>
                <c:pt idx="4">
                  <c:v>0.03</c:v>
                </c:pt>
                <c:pt idx="5">
                  <c:v>0.029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PHL</c:v>
                </c:pt>
              </c:strCache>
            </c:strRef>
          </c:tx>
          <c:spPr>
            <a:solidFill>
              <a:srgbClr val="2A78D6"/>
            </a:solidFill>
            <a:ln>
              <a:noFill/>
            </a:ln>
          </c:spPr>
          <c:cat>
            <c:strRef>
              <c:f>Sheet1!$A$2:$A$7</c:f>
              <c:strCache>
                <c:ptCount val="6"/>
                <c:pt idx="0">
                  <c:v>0</c:v>
                </c:pt>
                <c:pt idx="1">
                  <c:v>1</c:v>
                </c:pt>
                <c:pt idx="2">
                  <c:v>2–3</c:v>
                </c:pt>
                <c:pt idx="3">
                  <c:v>4–7</c:v>
                </c:pt>
                <c:pt idx="4">
                  <c:v>8–15</c:v>
                </c:pt>
                <c:pt idx="5">
                  <c:v>16+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0.05</c:v>
                </c:pt>
                <c:pt idx="1">
                  <c:v>0.081</c:v>
                </c:pt>
                <c:pt idx="2">
                  <c:v>0.047</c:v>
                </c:pt>
                <c:pt idx="3">
                  <c:v>0.039</c:v>
                </c:pt>
                <c:pt idx="4">
                  <c:v>0.027</c:v>
                </c:pt>
                <c:pt idx="5">
                  <c:v>0.031</c:v>
                </c:pt>
              </c:numCache>
            </c:numRef>
          </c:val>
        </c:ser>
        <c:gapWidth val="240"/>
        <c:overlap val="-15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ln w="9525">
            <a:solidFill>
              <a:srgbClr val="C3C2B7"/>
            </a:solidFill>
          </a:ln>
        </c:spPr>
        <c:txPr>
          <a:bodyPr/>
          <a:lstStyle/>
          <a:p>
            <a:pPr>
              <a:defRPr sz="800">
                <a:solidFill>
                  <a:srgbClr val="52514E"/>
                </a:solidFill>
                <a:latin typeface="Microsoft YaHei"/>
                <a:ea typeface="Microsoft YaHei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0.1"/>
          <c:min val="0.0"/>
        </c:scaling>
        <c:delete val="0"/>
        <c:axPos val="l"/>
        <c:majorGridlines>
          <c:spPr>
            <a:ln w="6350">
              <a:solidFill>
                <a:srgbClr val="E1E0D9"/>
              </a:solidFill>
            </a:ln>
          </c:spPr>
        </c:majorGridlines>
        <c:numFmt formatCode="0.00" sourceLinked="0"/>
        <c:majorTickMark val="none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800">
                <a:solidFill>
                  <a:srgbClr val="898781"/>
                </a:solidFill>
                <a:latin typeface="Microsoft YaHei"/>
                <a:ea typeface="Microsoft YaHei"/>
              </a:defRPr>
            </a:pPr>
          </a:p>
        </c:txPr>
        <c:crossAx val="-2068027336"/>
        <c:crosses val="autoZero"/>
        <c:majorUnit val="0.02"/>
      </c:valAx>
    </c:plotArea>
    <c:legend>
      <c:legendPos val="t"/>
      <c:overlay val="0"/>
      <c:txPr>
        <a:bodyPr/>
        <a:lstStyle/>
        <a:p>
          <a:pPr>
            <a:defRPr sz="800">
              <a:latin typeface="Microsoft YaHei"/>
              <a:ea typeface="Microsoft YaHei"/>
            </a:defRPr>
          </a:pPr>
        </a:p>
      </c:txPr>
    </c:legend>
    <c:dispBlanksAs val="gap"/>
  </c:chart>
  <c:spPr>
    <a:noFill/>
    <a:ln>
      <a:noFill/>
    </a:ln>
  </c:spPr>
  <c:txPr>
    <a:bodyPr/>
    <a:lstStyle/>
    <a:p>
      <a:pPr>
        <a:defRPr sz="800">
          <a:solidFill>
            <a:srgbClr val="52514E"/>
          </a:solidFill>
          <a:latin typeface="Microsoft YaHei"/>
          <a:ea typeface="Microsoft YaHei"/>
        </a:defRPr>
      </a:pPr>
      <a:endParaRPr lang="en-US">
        <a:latin typeface="Microsoft YaHei"/>
        <a:ea typeface="Microsoft YaHei"/>
      </a:endParaRPr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正例占比 %</c:v>
                </c:pt>
              </c:strCache>
            </c:strRef>
          </c:tx>
          <c:spPr>
            <a:solidFill>
              <a:srgbClr val="C3C2B7"/>
            </a:solidFill>
            <a:ln>
              <a:noFill/>
            </a:ln>
          </c:spPr>
          <c:cat>
            <c:strRef>
              <c:f>Sheet1!$A$2:$A$7</c:f>
              <c:strCache>
                <c:ptCount val="6"/>
                <c:pt idx="0">
                  <c:v>0</c:v>
                </c:pt>
                <c:pt idx="1">
                  <c:v>1</c:v>
                </c:pt>
                <c:pt idx="2">
                  <c:v>2–3</c:v>
                </c:pt>
                <c:pt idx="3">
                  <c:v>4–7</c:v>
                </c:pt>
                <c:pt idx="4">
                  <c:v>8–15</c:v>
                </c:pt>
                <c:pt idx="5">
                  <c:v>16+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10.7</c:v>
                </c:pt>
                <c:pt idx="1">
                  <c:v>11.5</c:v>
                </c:pt>
                <c:pt idx="2">
                  <c:v>17.7</c:v>
                </c:pt>
                <c:pt idx="3">
                  <c:v>28.9</c:v>
                </c:pt>
                <c:pt idx="4">
                  <c:v>28.1</c:v>
                </c:pt>
                <c:pt idx="5">
                  <c:v>3.1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损失占比 %</c:v>
                </c:pt>
              </c:strCache>
            </c:strRef>
          </c:tx>
          <c:spPr>
            <a:solidFill>
              <a:srgbClr val="2A78D6"/>
            </a:solidFill>
            <a:ln>
              <a:noFill/>
            </a:ln>
          </c:spPr>
          <c:cat>
            <c:strRef>
              <c:f>Sheet1!$A$2:$A$7</c:f>
              <c:strCache>
                <c:ptCount val="6"/>
                <c:pt idx="0">
                  <c:v>0</c:v>
                </c:pt>
                <c:pt idx="1">
                  <c:v>1</c:v>
                </c:pt>
                <c:pt idx="2">
                  <c:v>2–3</c:v>
                </c:pt>
                <c:pt idx="3">
                  <c:v>4–7</c:v>
                </c:pt>
                <c:pt idx="4">
                  <c:v>8–15</c:v>
                </c:pt>
                <c:pt idx="5">
                  <c:v>16+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12.3</c:v>
                </c:pt>
                <c:pt idx="1">
                  <c:v>22.3</c:v>
                </c:pt>
                <c:pt idx="2">
                  <c:v>22.3</c:v>
                </c:pt>
                <c:pt idx="3">
                  <c:v>25.6</c:v>
                </c:pt>
                <c:pt idx="4">
                  <c:v>16.1</c:v>
                </c:pt>
                <c:pt idx="5">
                  <c:v>1.4</c:v>
                </c:pt>
              </c:numCache>
            </c:numRef>
          </c:val>
        </c:ser>
        <c:gapWidth val="240"/>
        <c:overlap val="-15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r>
                  <a:rPr sz="800" b="0">
                    <a:solidFill>
                      <a:srgbClr val="898781"/>
                    </a:solidFill>
                    <a:latin typeface="Microsoft YaHei"/>
                    <a:ea typeface="Microsoft YaHei"/>
                  </a:rPr>
                  <a:t>miRNA 在训练支持图中的度数</a:t>
                </a:r>
              </a:p>
            </c:rich>
          </c:tx>
          <c:layout/>
          <c:overlay val="0"/>
        </c:title>
        <c:majorTickMark val="none"/>
        <c:minorTickMark val="none"/>
        <c:tickLblPos val="nextTo"/>
        <c:spPr>
          <a:ln w="9525">
            <a:solidFill>
              <a:srgbClr val="C3C2B7"/>
            </a:solidFill>
          </a:ln>
        </c:spPr>
        <c:txPr>
          <a:bodyPr/>
          <a:lstStyle/>
          <a:p>
            <a:pPr>
              <a:defRPr sz="800">
                <a:solidFill>
                  <a:srgbClr val="52514E"/>
                </a:solidFill>
                <a:latin typeface="Microsoft YaHei"/>
                <a:ea typeface="Microsoft YaHei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30.0"/>
          <c:min val="0.0"/>
        </c:scaling>
        <c:delete val="0"/>
        <c:axPos val="l"/>
        <c:majorGridlines>
          <c:spPr>
            <a:ln w="6350">
              <a:solidFill>
                <a:srgbClr val="E1E0D9"/>
              </a:solidFill>
            </a:ln>
          </c:spPr>
        </c:majorGridlines>
        <c:numFmt formatCode="0&quot;%&quot;" sourceLinked="0"/>
        <c:majorTickMark val="none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800">
                <a:solidFill>
                  <a:srgbClr val="898781"/>
                </a:solidFill>
                <a:latin typeface="Microsoft YaHei"/>
                <a:ea typeface="Microsoft YaHei"/>
              </a:defRPr>
            </a:pPr>
          </a:p>
        </c:txPr>
        <c:crossAx val="-2068027336"/>
        <c:crosses val="autoZero"/>
        <c:majorUnit val="10.0"/>
      </c:valAx>
    </c:plotArea>
    <c:legend>
      <c:legendPos val="t"/>
      <c:overlay val="0"/>
      <c:txPr>
        <a:bodyPr/>
        <a:lstStyle/>
        <a:p>
          <a:pPr>
            <a:defRPr sz="800">
              <a:latin typeface="Microsoft YaHei"/>
              <a:ea typeface="Microsoft YaHei"/>
            </a:defRPr>
          </a:pPr>
        </a:p>
      </c:txPr>
    </c:legend>
    <c:dispBlanksAs val="gap"/>
  </c:chart>
  <c:spPr>
    <a:noFill/>
    <a:ln>
      <a:noFill/>
    </a:ln>
  </c:spPr>
  <c:txPr>
    <a:bodyPr/>
    <a:lstStyle/>
    <a:p>
      <a:pPr>
        <a:defRPr sz="800">
          <a:solidFill>
            <a:srgbClr val="52514E"/>
          </a:solidFill>
          <a:latin typeface="Microsoft YaHei"/>
          <a:ea typeface="Microsoft YaHei"/>
        </a:defRPr>
      </a:pPr>
      <a:endParaRPr lang="en-US">
        <a:latin typeface="Microsoft YaHei"/>
        <a:ea typeface="Microsoft YaHei"/>
      </a:endParaRPr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基线 ctx+diff × LR</c:v>
                </c:pt>
              </c:strCache>
            </c:strRef>
          </c:tx>
          <c:spPr>
            <a:solidFill>
              <a:srgbClr val="C3C2B7"/>
            </a:solidFill>
            <a:ln>
              <a:noFill/>
            </a:ln>
          </c:spPr>
          <c:cat>
            <c:strRef>
              <c:f>Sheet1!$A$2:$A$7</c:f>
              <c:strCache>
                <c:ptCount val="6"/>
                <c:pt idx="0">
                  <c:v>0</c:v>
                </c:pt>
                <c:pt idx="1">
                  <c:v>1</c:v>
                </c:pt>
                <c:pt idx="2">
                  <c:v>2–3</c:v>
                </c:pt>
                <c:pt idx="3">
                  <c:v>4–7</c:v>
                </c:pt>
                <c:pt idx="4">
                  <c:v>8–15</c:v>
                </c:pt>
                <c:pt idx="5">
                  <c:v>16+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0.043</c:v>
                </c:pt>
                <c:pt idx="1">
                  <c:v>0.088</c:v>
                </c:pt>
                <c:pt idx="2">
                  <c:v>0.058</c:v>
                </c:pt>
                <c:pt idx="3">
                  <c:v>0.041</c:v>
                </c:pt>
                <c:pt idx="4">
                  <c:v>0.027</c:v>
                </c:pt>
                <c:pt idx="5">
                  <c:v>0.022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PHL</c:v>
                </c:pt>
              </c:strCache>
            </c:strRef>
          </c:tx>
          <c:spPr>
            <a:solidFill>
              <a:srgbClr val="2A78D6"/>
            </a:solidFill>
            <a:ln>
              <a:noFill/>
            </a:ln>
          </c:spPr>
          <c:cat>
            <c:strRef>
              <c:f>Sheet1!$A$2:$A$7</c:f>
              <c:strCache>
                <c:ptCount val="6"/>
                <c:pt idx="0">
                  <c:v>0</c:v>
                </c:pt>
                <c:pt idx="1">
                  <c:v>1</c:v>
                </c:pt>
                <c:pt idx="2">
                  <c:v>2–3</c:v>
                </c:pt>
                <c:pt idx="3">
                  <c:v>4–7</c:v>
                </c:pt>
                <c:pt idx="4">
                  <c:v>8–15</c:v>
                </c:pt>
                <c:pt idx="5">
                  <c:v>16+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0.038</c:v>
                </c:pt>
                <c:pt idx="1">
                  <c:v>0.076</c:v>
                </c:pt>
                <c:pt idx="2">
                  <c:v>0.053</c:v>
                </c:pt>
                <c:pt idx="3">
                  <c:v>0.036</c:v>
                </c:pt>
                <c:pt idx="4">
                  <c:v>0.025</c:v>
                </c:pt>
                <c:pt idx="5">
                  <c:v>0.023</c:v>
                </c:pt>
              </c:numCache>
            </c:numRef>
          </c:val>
        </c:ser>
        <c:gapWidth val="240"/>
        <c:overlap val="-15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r>
                  <a:rPr sz="800" b="0">
                    <a:solidFill>
                      <a:srgbClr val="898781"/>
                    </a:solidFill>
                    <a:latin typeface="Microsoft YaHei"/>
                    <a:ea typeface="Microsoft YaHei"/>
                  </a:rPr>
                  <a:t>miRNA 在训练支持图中的度数</a:t>
                </a:r>
              </a:p>
            </c:rich>
          </c:tx>
          <c:layout/>
          <c:overlay val="0"/>
        </c:title>
        <c:majorTickMark val="none"/>
        <c:minorTickMark val="none"/>
        <c:tickLblPos val="nextTo"/>
        <c:spPr>
          <a:ln w="9525">
            <a:solidFill>
              <a:srgbClr val="C3C2B7"/>
            </a:solidFill>
          </a:ln>
        </c:spPr>
        <c:txPr>
          <a:bodyPr/>
          <a:lstStyle/>
          <a:p>
            <a:pPr>
              <a:defRPr sz="800">
                <a:solidFill>
                  <a:srgbClr val="52514E"/>
                </a:solidFill>
                <a:latin typeface="Microsoft YaHei"/>
                <a:ea typeface="Microsoft YaHei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0.1"/>
          <c:min val="0.0"/>
        </c:scaling>
        <c:delete val="0"/>
        <c:axPos val="l"/>
        <c:majorGridlines>
          <c:spPr>
            <a:ln w="6350">
              <a:solidFill>
                <a:srgbClr val="E1E0D9"/>
              </a:solidFill>
            </a:ln>
          </c:spPr>
        </c:majorGridlines>
        <c:numFmt formatCode="0.00" sourceLinked="0"/>
        <c:majorTickMark val="none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800">
                <a:solidFill>
                  <a:srgbClr val="898781"/>
                </a:solidFill>
                <a:latin typeface="Microsoft YaHei"/>
                <a:ea typeface="Microsoft YaHei"/>
              </a:defRPr>
            </a:pPr>
          </a:p>
        </c:txPr>
        <c:crossAx val="-2068027336"/>
        <c:crosses val="autoZero"/>
        <c:majorUnit val="0.02"/>
      </c:valAx>
    </c:plotArea>
    <c:legend>
      <c:legendPos val="t"/>
      <c:overlay val="0"/>
      <c:txPr>
        <a:bodyPr/>
        <a:lstStyle/>
        <a:p>
          <a:pPr>
            <a:defRPr sz="800">
              <a:latin typeface="Microsoft YaHei"/>
              <a:ea typeface="Microsoft YaHei"/>
            </a:defRPr>
          </a:pPr>
        </a:p>
      </c:txPr>
    </c:legend>
    <c:dispBlanksAs val="gap"/>
  </c:chart>
  <c:spPr>
    <a:noFill/>
    <a:ln>
      <a:noFill/>
    </a:ln>
  </c:spPr>
  <c:txPr>
    <a:bodyPr/>
    <a:lstStyle/>
    <a:p>
      <a:pPr>
        <a:defRPr sz="800">
          <a:solidFill>
            <a:srgbClr val="52514E"/>
          </a:solidFill>
          <a:latin typeface="Microsoft YaHei"/>
          <a:ea typeface="Microsoft YaHei"/>
        </a:defRPr>
      </a:pPr>
      <a:endParaRPr lang="en-US">
        <a:latin typeface="Microsoft YaHei"/>
        <a:ea typeface="Microsoft YaHei"/>
      </a:endParaRPr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share of positives %</c:v>
                </c:pt>
              </c:strCache>
            </c:strRef>
          </c:tx>
          <c:spPr>
            <a:solidFill>
              <a:srgbClr val="C3C2B7"/>
            </a:solidFill>
            <a:ln>
              <a:noFill/>
            </a:ln>
          </c:spPr>
          <c:cat>
            <c:strRef>
              <c:f>Sheet1!$A$2:$A$7</c:f>
              <c:strCache>
                <c:ptCount val="6"/>
                <c:pt idx="0">
                  <c:v>0</c:v>
                </c:pt>
                <c:pt idx="1">
                  <c:v>1</c:v>
                </c:pt>
                <c:pt idx="2">
                  <c:v>2–3</c:v>
                </c:pt>
                <c:pt idx="3">
                  <c:v>4–7</c:v>
                </c:pt>
                <c:pt idx="4">
                  <c:v>8–15</c:v>
                </c:pt>
                <c:pt idx="5">
                  <c:v>16+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10.0</c:v>
                </c:pt>
                <c:pt idx="1">
                  <c:v>10.4</c:v>
                </c:pt>
                <c:pt idx="2">
                  <c:v>19.9</c:v>
                </c:pt>
                <c:pt idx="3">
                  <c:v>29.2</c:v>
                </c:pt>
                <c:pt idx="4">
                  <c:v>26.8</c:v>
                </c:pt>
                <c:pt idx="5">
                  <c:v>3.7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share of loss %</c:v>
                </c:pt>
              </c:strCache>
            </c:strRef>
          </c:tx>
          <c:spPr>
            <a:solidFill>
              <a:srgbClr val="2A78D6"/>
            </a:solidFill>
            <a:ln>
              <a:noFill/>
            </a:ln>
          </c:spPr>
          <c:cat>
            <c:strRef>
              <c:f>Sheet1!$A$2:$A$7</c:f>
              <c:strCache>
                <c:ptCount val="6"/>
                <c:pt idx="0">
                  <c:v>0</c:v>
                </c:pt>
                <c:pt idx="1">
                  <c:v>1</c:v>
                </c:pt>
                <c:pt idx="2">
                  <c:v>2–3</c:v>
                </c:pt>
                <c:pt idx="3">
                  <c:v>4–7</c:v>
                </c:pt>
                <c:pt idx="4">
                  <c:v>8–15</c:v>
                </c:pt>
                <c:pt idx="5">
                  <c:v>16+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13.4</c:v>
                </c:pt>
                <c:pt idx="1">
                  <c:v>19.6</c:v>
                </c:pt>
                <c:pt idx="2">
                  <c:v>22.5</c:v>
                </c:pt>
                <c:pt idx="3">
                  <c:v>26.6</c:v>
                </c:pt>
                <c:pt idx="4">
                  <c:v>15.8</c:v>
                </c:pt>
                <c:pt idx="5">
                  <c:v>2.1</c:v>
                </c:pt>
              </c:numCache>
            </c:numRef>
          </c:val>
        </c:ser>
        <c:gapWidth val="240"/>
        <c:overlap val="-15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ln w="9525">
            <a:solidFill>
              <a:srgbClr val="C3C2B7"/>
            </a:solidFill>
          </a:ln>
        </c:spPr>
        <c:txPr>
          <a:bodyPr/>
          <a:lstStyle/>
          <a:p>
            <a:pPr>
              <a:defRPr sz="800">
                <a:solidFill>
                  <a:srgbClr val="52514E"/>
                </a:solidFill>
                <a:latin typeface="Microsoft YaHei"/>
                <a:ea typeface="Microsoft YaHei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30.0"/>
          <c:min val="0.0"/>
        </c:scaling>
        <c:delete val="0"/>
        <c:axPos val="l"/>
        <c:majorGridlines>
          <c:spPr>
            <a:ln w="6350">
              <a:solidFill>
                <a:srgbClr val="E1E0D9"/>
              </a:solidFill>
            </a:ln>
          </c:spPr>
        </c:majorGridlines>
        <c:numFmt formatCode="0&quot;%&quot;" sourceLinked="0"/>
        <c:majorTickMark val="none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800">
                <a:solidFill>
                  <a:srgbClr val="898781"/>
                </a:solidFill>
                <a:latin typeface="Microsoft YaHei"/>
                <a:ea typeface="Microsoft YaHei"/>
              </a:defRPr>
            </a:pPr>
          </a:p>
        </c:txPr>
        <c:crossAx val="-2068027336"/>
        <c:crosses val="autoZero"/>
        <c:majorUnit val="10.0"/>
      </c:valAx>
    </c:plotArea>
    <c:legend>
      <c:legendPos val="t"/>
      <c:overlay val="0"/>
      <c:txPr>
        <a:bodyPr/>
        <a:lstStyle/>
        <a:p>
          <a:pPr>
            <a:defRPr sz="800">
              <a:latin typeface="Microsoft YaHei"/>
              <a:ea typeface="Microsoft YaHei"/>
            </a:defRPr>
          </a:pPr>
        </a:p>
      </c:txPr>
    </c:legend>
    <c:dispBlanksAs val="gap"/>
  </c:chart>
  <c:spPr>
    <a:noFill/>
    <a:ln>
      <a:noFill/>
    </a:ln>
  </c:spPr>
  <c:txPr>
    <a:bodyPr/>
    <a:lstStyle/>
    <a:p>
      <a:pPr>
        <a:defRPr sz="800">
          <a:solidFill>
            <a:srgbClr val="52514E"/>
          </a:solidFill>
          <a:latin typeface="Microsoft YaHei"/>
          <a:ea typeface="Microsoft YaHei"/>
        </a:defRPr>
      </a:pPr>
      <a:endParaRPr lang="en-US">
        <a:latin typeface="Microsoft YaHei"/>
        <a:ea typeface="Microsoft YaHei"/>
      </a:endParaRPr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baseline ctx+diff × LR</c:v>
                </c:pt>
              </c:strCache>
            </c:strRef>
          </c:tx>
          <c:spPr>
            <a:solidFill>
              <a:srgbClr val="C3C2B7"/>
            </a:solidFill>
            <a:ln>
              <a:noFill/>
            </a:ln>
          </c:spPr>
          <c:cat>
            <c:strRef>
              <c:f>Sheet1!$A$2:$A$7</c:f>
              <c:strCache>
                <c:ptCount val="6"/>
                <c:pt idx="0">
                  <c:v>0</c:v>
                </c:pt>
                <c:pt idx="1">
                  <c:v>1</c:v>
                </c:pt>
                <c:pt idx="2">
                  <c:v>2–3</c:v>
                </c:pt>
                <c:pt idx="3">
                  <c:v>4–7</c:v>
                </c:pt>
                <c:pt idx="4">
                  <c:v>8–15</c:v>
                </c:pt>
                <c:pt idx="5">
                  <c:v>16+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0.054</c:v>
                </c:pt>
                <c:pt idx="1">
                  <c:v>0.094</c:v>
                </c:pt>
                <c:pt idx="2">
                  <c:v>0.055</c:v>
                </c:pt>
                <c:pt idx="3">
                  <c:v>0.045</c:v>
                </c:pt>
                <c:pt idx="4">
                  <c:v>0.03</c:v>
                </c:pt>
                <c:pt idx="5">
                  <c:v>0.029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PHL</c:v>
                </c:pt>
              </c:strCache>
            </c:strRef>
          </c:tx>
          <c:spPr>
            <a:solidFill>
              <a:srgbClr val="2A78D6"/>
            </a:solidFill>
            <a:ln>
              <a:noFill/>
            </a:ln>
          </c:spPr>
          <c:cat>
            <c:strRef>
              <c:f>Sheet1!$A$2:$A$7</c:f>
              <c:strCache>
                <c:ptCount val="6"/>
                <c:pt idx="0">
                  <c:v>0</c:v>
                </c:pt>
                <c:pt idx="1">
                  <c:v>1</c:v>
                </c:pt>
                <c:pt idx="2">
                  <c:v>2–3</c:v>
                </c:pt>
                <c:pt idx="3">
                  <c:v>4–7</c:v>
                </c:pt>
                <c:pt idx="4">
                  <c:v>8–15</c:v>
                </c:pt>
                <c:pt idx="5">
                  <c:v>16+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0.05</c:v>
                </c:pt>
                <c:pt idx="1">
                  <c:v>0.081</c:v>
                </c:pt>
                <c:pt idx="2">
                  <c:v>0.047</c:v>
                </c:pt>
                <c:pt idx="3">
                  <c:v>0.039</c:v>
                </c:pt>
                <c:pt idx="4">
                  <c:v>0.027</c:v>
                </c:pt>
                <c:pt idx="5">
                  <c:v>0.031</c:v>
                </c:pt>
              </c:numCache>
            </c:numRef>
          </c:val>
        </c:ser>
        <c:gapWidth val="240"/>
        <c:overlap val="-15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ln w="9525">
            <a:solidFill>
              <a:srgbClr val="C3C2B7"/>
            </a:solidFill>
          </a:ln>
        </c:spPr>
        <c:txPr>
          <a:bodyPr/>
          <a:lstStyle/>
          <a:p>
            <a:pPr>
              <a:defRPr sz="800">
                <a:solidFill>
                  <a:srgbClr val="52514E"/>
                </a:solidFill>
                <a:latin typeface="Microsoft YaHei"/>
                <a:ea typeface="Microsoft YaHei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0.1"/>
          <c:min val="0.0"/>
        </c:scaling>
        <c:delete val="0"/>
        <c:axPos val="l"/>
        <c:majorGridlines>
          <c:spPr>
            <a:ln w="6350">
              <a:solidFill>
                <a:srgbClr val="E1E0D9"/>
              </a:solidFill>
            </a:ln>
          </c:spPr>
        </c:majorGridlines>
        <c:numFmt formatCode="0.00" sourceLinked="0"/>
        <c:majorTickMark val="none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800">
                <a:solidFill>
                  <a:srgbClr val="898781"/>
                </a:solidFill>
                <a:latin typeface="Microsoft YaHei"/>
                <a:ea typeface="Microsoft YaHei"/>
              </a:defRPr>
            </a:pPr>
          </a:p>
        </c:txPr>
        <c:crossAx val="-2068027336"/>
        <c:crosses val="autoZero"/>
        <c:majorUnit val="0.02"/>
      </c:valAx>
    </c:plotArea>
    <c:legend>
      <c:legendPos val="t"/>
      <c:overlay val="0"/>
      <c:txPr>
        <a:bodyPr/>
        <a:lstStyle/>
        <a:p>
          <a:pPr>
            <a:defRPr sz="800">
              <a:latin typeface="Microsoft YaHei"/>
              <a:ea typeface="Microsoft YaHei"/>
            </a:defRPr>
          </a:pPr>
        </a:p>
      </c:txPr>
    </c:legend>
    <c:dispBlanksAs val="gap"/>
  </c:chart>
  <c:spPr>
    <a:noFill/>
    <a:ln>
      <a:noFill/>
    </a:ln>
  </c:spPr>
  <c:txPr>
    <a:bodyPr/>
    <a:lstStyle/>
    <a:p>
      <a:pPr>
        <a:defRPr sz="800">
          <a:solidFill>
            <a:srgbClr val="52514E"/>
          </a:solidFill>
          <a:latin typeface="Microsoft YaHei"/>
          <a:ea typeface="Microsoft YaHei"/>
        </a:defRPr>
      </a:pPr>
      <a:endParaRPr lang="en-US">
        <a:latin typeface="Microsoft YaHei"/>
        <a:ea typeface="Microsoft YaHei"/>
      </a:endParaRPr>
    </a:p>
  </c:tx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share of positives %</c:v>
                </c:pt>
              </c:strCache>
            </c:strRef>
          </c:tx>
          <c:spPr>
            <a:solidFill>
              <a:srgbClr val="C3C2B7"/>
            </a:solidFill>
            <a:ln>
              <a:noFill/>
            </a:ln>
          </c:spPr>
          <c:cat>
            <c:strRef>
              <c:f>Sheet1!$A$2:$A$7</c:f>
              <c:strCache>
                <c:ptCount val="6"/>
                <c:pt idx="0">
                  <c:v>0</c:v>
                </c:pt>
                <c:pt idx="1">
                  <c:v>1</c:v>
                </c:pt>
                <c:pt idx="2">
                  <c:v>2–3</c:v>
                </c:pt>
                <c:pt idx="3">
                  <c:v>4–7</c:v>
                </c:pt>
                <c:pt idx="4">
                  <c:v>8–15</c:v>
                </c:pt>
                <c:pt idx="5">
                  <c:v>16+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10.7</c:v>
                </c:pt>
                <c:pt idx="1">
                  <c:v>11.5</c:v>
                </c:pt>
                <c:pt idx="2">
                  <c:v>17.7</c:v>
                </c:pt>
                <c:pt idx="3">
                  <c:v>28.9</c:v>
                </c:pt>
                <c:pt idx="4">
                  <c:v>28.1</c:v>
                </c:pt>
                <c:pt idx="5">
                  <c:v>3.1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share of loss %</c:v>
                </c:pt>
              </c:strCache>
            </c:strRef>
          </c:tx>
          <c:spPr>
            <a:solidFill>
              <a:srgbClr val="2A78D6"/>
            </a:solidFill>
            <a:ln>
              <a:noFill/>
            </a:ln>
          </c:spPr>
          <c:cat>
            <c:strRef>
              <c:f>Sheet1!$A$2:$A$7</c:f>
              <c:strCache>
                <c:ptCount val="6"/>
                <c:pt idx="0">
                  <c:v>0</c:v>
                </c:pt>
                <c:pt idx="1">
                  <c:v>1</c:v>
                </c:pt>
                <c:pt idx="2">
                  <c:v>2–3</c:v>
                </c:pt>
                <c:pt idx="3">
                  <c:v>4–7</c:v>
                </c:pt>
                <c:pt idx="4">
                  <c:v>8–15</c:v>
                </c:pt>
                <c:pt idx="5">
                  <c:v>16+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12.3</c:v>
                </c:pt>
                <c:pt idx="1">
                  <c:v>22.3</c:v>
                </c:pt>
                <c:pt idx="2">
                  <c:v>22.3</c:v>
                </c:pt>
                <c:pt idx="3">
                  <c:v>25.6</c:v>
                </c:pt>
                <c:pt idx="4">
                  <c:v>16.1</c:v>
                </c:pt>
                <c:pt idx="5">
                  <c:v>1.4</c:v>
                </c:pt>
              </c:numCache>
            </c:numRef>
          </c:val>
        </c:ser>
        <c:gapWidth val="240"/>
        <c:overlap val="-15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r>
                  <a:rPr sz="800" b="0">
                    <a:solidFill>
                      <a:srgbClr val="898781"/>
                    </a:solidFill>
                    <a:latin typeface="Microsoft YaHei"/>
                    <a:ea typeface="Microsoft YaHei"/>
                  </a:rPr>
                  <a:t>miRNA degree in the training support graph</a:t>
                </a:r>
              </a:p>
            </c:rich>
          </c:tx>
          <c:layout/>
          <c:overlay val="0"/>
        </c:title>
        <c:majorTickMark val="none"/>
        <c:minorTickMark val="none"/>
        <c:tickLblPos val="nextTo"/>
        <c:spPr>
          <a:ln w="9525">
            <a:solidFill>
              <a:srgbClr val="C3C2B7"/>
            </a:solidFill>
          </a:ln>
        </c:spPr>
        <c:txPr>
          <a:bodyPr/>
          <a:lstStyle/>
          <a:p>
            <a:pPr>
              <a:defRPr sz="800">
                <a:solidFill>
                  <a:srgbClr val="52514E"/>
                </a:solidFill>
                <a:latin typeface="Microsoft YaHei"/>
                <a:ea typeface="Microsoft YaHei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30.0"/>
          <c:min val="0.0"/>
        </c:scaling>
        <c:delete val="0"/>
        <c:axPos val="l"/>
        <c:majorGridlines>
          <c:spPr>
            <a:ln w="6350">
              <a:solidFill>
                <a:srgbClr val="E1E0D9"/>
              </a:solidFill>
            </a:ln>
          </c:spPr>
        </c:majorGridlines>
        <c:numFmt formatCode="0&quot;%&quot;" sourceLinked="0"/>
        <c:majorTickMark val="none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800">
                <a:solidFill>
                  <a:srgbClr val="898781"/>
                </a:solidFill>
                <a:latin typeface="Microsoft YaHei"/>
                <a:ea typeface="Microsoft YaHei"/>
              </a:defRPr>
            </a:pPr>
          </a:p>
        </c:txPr>
        <c:crossAx val="-2068027336"/>
        <c:crosses val="autoZero"/>
        <c:majorUnit val="10.0"/>
      </c:valAx>
    </c:plotArea>
    <c:legend>
      <c:legendPos val="t"/>
      <c:overlay val="0"/>
      <c:txPr>
        <a:bodyPr/>
        <a:lstStyle/>
        <a:p>
          <a:pPr>
            <a:defRPr sz="800">
              <a:latin typeface="Microsoft YaHei"/>
              <a:ea typeface="Microsoft YaHei"/>
            </a:defRPr>
          </a:pPr>
        </a:p>
      </c:txPr>
    </c:legend>
    <c:dispBlanksAs val="gap"/>
  </c:chart>
  <c:spPr>
    <a:noFill/>
    <a:ln>
      <a:noFill/>
    </a:ln>
  </c:spPr>
  <c:txPr>
    <a:bodyPr/>
    <a:lstStyle/>
    <a:p>
      <a:pPr>
        <a:defRPr sz="800">
          <a:solidFill>
            <a:srgbClr val="52514E"/>
          </a:solidFill>
          <a:latin typeface="Microsoft YaHei"/>
          <a:ea typeface="Microsoft YaHei"/>
        </a:defRPr>
      </a:pPr>
      <a:endParaRPr lang="en-US">
        <a:latin typeface="Microsoft YaHei"/>
        <a:ea typeface="Microsoft YaHei"/>
      </a:endParaRPr>
    </a:p>
  </c:tx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baseline ctx+diff × LR</c:v>
                </c:pt>
              </c:strCache>
            </c:strRef>
          </c:tx>
          <c:spPr>
            <a:solidFill>
              <a:srgbClr val="C3C2B7"/>
            </a:solidFill>
            <a:ln>
              <a:noFill/>
            </a:ln>
          </c:spPr>
          <c:cat>
            <c:strRef>
              <c:f>Sheet1!$A$2:$A$7</c:f>
              <c:strCache>
                <c:ptCount val="6"/>
                <c:pt idx="0">
                  <c:v>0</c:v>
                </c:pt>
                <c:pt idx="1">
                  <c:v>1</c:v>
                </c:pt>
                <c:pt idx="2">
                  <c:v>2–3</c:v>
                </c:pt>
                <c:pt idx="3">
                  <c:v>4–7</c:v>
                </c:pt>
                <c:pt idx="4">
                  <c:v>8–15</c:v>
                </c:pt>
                <c:pt idx="5">
                  <c:v>16+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0.043</c:v>
                </c:pt>
                <c:pt idx="1">
                  <c:v>0.088</c:v>
                </c:pt>
                <c:pt idx="2">
                  <c:v>0.058</c:v>
                </c:pt>
                <c:pt idx="3">
                  <c:v>0.041</c:v>
                </c:pt>
                <c:pt idx="4">
                  <c:v>0.027</c:v>
                </c:pt>
                <c:pt idx="5">
                  <c:v>0.022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PHL</c:v>
                </c:pt>
              </c:strCache>
            </c:strRef>
          </c:tx>
          <c:spPr>
            <a:solidFill>
              <a:srgbClr val="2A78D6"/>
            </a:solidFill>
            <a:ln>
              <a:noFill/>
            </a:ln>
          </c:spPr>
          <c:cat>
            <c:strRef>
              <c:f>Sheet1!$A$2:$A$7</c:f>
              <c:strCache>
                <c:ptCount val="6"/>
                <c:pt idx="0">
                  <c:v>0</c:v>
                </c:pt>
                <c:pt idx="1">
                  <c:v>1</c:v>
                </c:pt>
                <c:pt idx="2">
                  <c:v>2–3</c:v>
                </c:pt>
                <c:pt idx="3">
                  <c:v>4–7</c:v>
                </c:pt>
                <c:pt idx="4">
                  <c:v>8–15</c:v>
                </c:pt>
                <c:pt idx="5">
                  <c:v>16+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0.038</c:v>
                </c:pt>
                <c:pt idx="1">
                  <c:v>0.076</c:v>
                </c:pt>
                <c:pt idx="2">
                  <c:v>0.053</c:v>
                </c:pt>
                <c:pt idx="3">
                  <c:v>0.036</c:v>
                </c:pt>
                <c:pt idx="4">
                  <c:v>0.025</c:v>
                </c:pt>
                <c:pt idx="5">
                  <c:v>0.023</c:v>
                </c:pt>
              </c:numCache>
            </c:numRef>
          </c:val>
        </c:ser>
        <c:gapWidth val="240"/>
        <c:overlap val="-15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r>
                  <a:rPr sz="800" b="0">
                    <a:solidFill>
                      <a:srgbClr val="898781"/>
                    </a:solidFill>
                    <a:latin typeface="Microsoft YaHei"/>
                    <a:ea typeface="Microsoft YaHei"/>
                  </a:rPr>
                  <a:t>miRNA degree in the training support graph</a:t>
                </a:r>
              </a:p>
            </c:rich>
          </c:tx>
          <c:layout/>
          <c:overlay val="0"/>
        </c:title>
        <c:majorTickMark val="none"/>
        <c:minorTickMark val="none"/>
        <c:tickLblPos val="nextTo"/>
        <c:spPr>
          <a:ln w="9525">
            <a:solidFill>
              <a:srgbClr val="C3C2B7"/>
            </a:solidFill>
          </a:ln>
        </c:spPr>
        <c:txPr>
          <a:bodyPr/>
          <a:lstStyle/>
          <a:p>
            <a:pPr>
              <a:defRPr sz="800">
                <a:solidFill>
                  <a:srgbClr val="52514E"/>
                </a:solidFill>
                <a:latin typeface="Microsoft YaHei"/>
                <a:ea typeface="Microsoft YaHei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0.1"/>
          <c:min val="0.0"/>
        </c:scaling>
        <c:delete val="0"/>
        <c:axPos val="l"/>
        <c:majorGridlines>
          <c:spPr>
            <a:ln w="6350">
              <a:solidFill>
                <a:srgbClr val="E1E0D9"/>
              </a:solidFill>
            </a:ln>
          </c:spPr>
        </c:majorGridlines>
        <c:numFmt formatCode="0.00" sourceLinked="0"/>
        <c:majorTickMark val="none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800">
                <a:solidFill>
                  <a:srgbClr val="898781"/>
                </a:solidFill>
                <a:latin typeface="Microsoft YaHei"/>
                <a:ea typeface="Microsoft YaHei"/>
              </a:defRPr>
            </a:pPr>
          </a:p>
        </c:txPr>
        <c:crossAx val="-2068027336"/>
        <c:crosses val="autoZero"/>
        <c:majorUnit val="0.02"/>
      </c:valAx>
    </c:plotArea>
    <c:legend>
      <c:legendPos val="t"/>
      <c:overlay val="0"/>
      <c:txPr>
        <a:bodyPr/>
        <a:lstStyle/>
        <a:p>
          <a:pPr>
            <a:defRPr sz="800">
              <a:latin typeface="Microsoft YaHei"/>
              <a:ea typeface="Microsoft YaHei"/>
            </a:defRPr>
          </a:pPr>
        </a:p>
      </c:txPr>
    </c:legend>
    <c:dispBlanksAs val="gap"/>
  </c:chart>
  <c:spPr>
    <a:noFill/>
    <a:ln>
      <a:noFill/>
    </a:ln>
  </c:spPr>
  <c:txPr>
    <a:bodyPr/>
    <a:lstStyle/>
    <a:p>
      <a:pPr>
        <a:defRPr sz="800">
          <a:solidFill>
            <a:srgbClr val="52514E"/>
          </a:solidFill>
          <a:latin typeface="Microsoft YaHei"/>
          <a:ea typeface="Microsoft YaHei"/>
        </a:defRPr>
      </a:pPr>
      <a:endParaRPr lang="en-US">
        <a:latin typeface="Microsoft YaHei"/>
        <a:ea typeface="Microsoft YaHei"/>
      </a:endParaRPr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chart" Target="../charts/chart2.xml"/><Relationship Id="rId4" Type="http://schemas.openxmlformats.org/officeDocument/2006/relationships/chart" Target="../charts/chart3.xml"/><Relationship Id="rId5" Type="http://schemas.openxmlformats.org/officeDocument/2006/relationships/chart" Target="../charts/chart4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5.xml"/><Relationship Id="rId3" Type="http://schemas.openxmlformats.org/officeDocument/2006/relationships/chart" Target="../charts/chart6.xml"/><Relationship Id="rId4" Type="http://schemas.openxmlformats.org/officeDocument/2006/relationships/chart" Target="../charts/chart7.xml"/><Relationship Id="rId5" Type="http://schemas.openxmlformats.org/officeDocument/2006/relationships/chart" Target="../charts/chart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28600"/>
            <a:ext cx="11338560" cy="438912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pPr algn="l">
              <a:lnSpc>
                <a:spcPct val="105000"/>
              </a:lnSpc>
              <a:spcAft>
                <a:spcPts val="150"/>
              </a:spcAft>
            </a:pPr>
            <a:r>
              <a:rPr sz="2000" b="1" i="0">
                <a:solidFill>
                  <a:srgbClr val="0B0B0B"/>
                </a:solidFill>
                <a:latin typeface="Microsoft YaHei"/>
                <a:ea typeface="Microsoft YaHei"/>
              </a:rPr>
              <a:t>PHL：溯源超图启发式学习器（Provenance-Hypergraph Heuristic Learner）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676656"/>
            <a:ext cx="11338560" cy="457200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pPr algn="l">
              <a:lnSpc>
                <a:spcPct val="105000"/>
              </a:lnSpc>
              <a:spcAft>
                <a:spcPts val="150"/>
              </a:spcAft>
            </a:pPr>
            <a:r>
              <a:rPr sz="1000" b="0" i="0">
                <a:solidFill>
                  <a:srgbClr val="52514E"/>
                </a:solidFill>
                <a:latin typeface="Microsoft YaHei"/>
                <a:ea typeface="Microsoft YaHei"/>
              </a:rPr>
              <a:t>在 PLMF-MDA 支持图上叠加策展溯源超图与 miRNA 旁信息关系，确定性计算 128 列启发式，接一个逻辑回归读头（约 130 个参数）。单模型、线性、无泄漏。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1188720"/>
            <a:ext cx="2148840" cy="274320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150"/>
              </a:spcAft>
            </a:pPr>
            <a:r>
              <a:rPr sz="1000" b="1" i="0">
                <a:solidFill>
                  <a:srgbClr val="52514E"/>
                </a:solidFill>
                <a:latin typeface="Microsoft YaHei"/>
                <a:ea typeface="Microsoft YaHei"/>
              </a:rPr>
              <a:t>① 数据源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411480" y="1481328"/>
            <a:ext cx="2148840" cy="0"/>
          </a:xfrm>
          <a:prstGeom prst="line">
            <a:avLst/>
          </a:prstGeom>
          <a:ln w="9525">
            <a:solidFill>
              <a:srgbClr val="C3C2B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2971800" y="1188720"/>
            <a:ext cx="3246120" cy="274320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150"/>
              </a:spcAft>
            </a:pPr>
            <a:r>
              <a:rPr sz="1000" b="1" i="0">
                <a:solidFill>
                  <a:srgbClr val="52514E"/>
                </a:solidFill>
                <a:latin typeface="Microsoft YaHei"/>
                <a:ea typeface="Microsoft YaHei"/>
              </a:rPr>
              <a:t>② 多关系超图（仅用 support 正例构建）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2971800" y="1481328"/>
            <a:ext cx="3246120" cy="0"/>
          </a:xfrm>
          <a:prstGeom prst="line">
            <a:avLst/>
          </a:prstGeom>
          <a:ln w="9525">
            <a:solidFill>
              <a:srgbClr val="C3C2B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6629400" y="1188720"/>
            <a:ext cx="2240280" cy="274320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150"/>
              </a:spcAft>
            </a:pPr>
            <a:r>
              <a:rPr sz="1000" b="1" i="0">
                <a:solidFill>
                  <a:srgbClr val="52514E"/>
                </a:solidFill>
                <a:latin typeface="Microsoft YaHei"/>
                <a:ea typeface="Microsoft YaHei"/>
              </a:rPr>
              <a:t>③ 启发式特征（128 列）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629400" y="1481328"/>
            <a:ext cx="2240280" cy="0"/>
          </a:xfrm>
          <a:prstGeom prst="line">
            <a:avLst/>
          </a:prstGeom>
          <a:ln w="9525">
            <a:solidFill>
              <a:srgbClr val="C3C2B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9281160" y="1188720"/>
            <a:ext cx="2514600" cy="274320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150"/>
              </a:spcAft>
            </a:pPr>
            <a:r>
              <a:rPr sz="1000" b="1" i="0">
                <a:solidFill>
                  <a:srgbClr val="52514E"/>
                </a:solidFill>
                <a:latin typeface="Microsoft YaHei"/>
                <a:ea typeface="Microsoft YaHei"/>
              </a:rPr>
              <a:t>④ 线性读头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9281160" y="1481328"/>
            <a:ext cx="2514600" cy="0"/>
          </a:xfrm>
          <a:prstGeom prst="line">
            <a:avLst/>
          </a:prstGeom>
          <a:ln w="9525">
            <a:solidFill>
              <a:srgbClr val="C3C2B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411480" y="1536192"/>
            <a:ext cx="2148840" cy="1170432"/>
          </a:xfrm>
          <a:prstGeom prst="roundRect">
            <a:avLst>
              <a:gd name="adj" fmla="val 10000"/>
            </a:avLst>
          </a:prstGeom>
          <a:solidFill>
            <a:srgbClr val="DFEB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54864" bIns="54864"/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950" b="1" i="0">
                <a:solidFill>
                  <a:srgbClr val="0B0B0B"/>
                </a:solidFill>
                <a:latin typeface="Microsoft YaHei"/>
                <a:ea typeface="Microsoft YaHei"/>
              </a:rPr>
              <a:t>PLMF-MDA 训练正例</a:t>
            </a:r>
          </a:p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850" b="0" i="0">
                <a:solidFill>
                  <a:srgbClr val="52514E"/>
                </a:solidFill>
                <a:latin typeface="Microsoft YaHei"/>
                <a:ea typeface="Microsoft YaHei"/>
              </a:rPr>
              <a:t>miRNA–药物关联矩阵（MDR / MDS），仅训练折的正例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971800" y="1536192"/>
            <a:ext cx="3246120" cy="1170432"/>
          </a:xfrm>
          <a:prstGeom prst="roundRect">
            <a:avLst>
              <a:gd name="adj" fmla="val 10000"/>
            </a:avLst>
          </a:prstGeom>
          <a:solidFill>
            <a:srgbClr val="FCFCFB"/>
          </a:solidFill>
          <a:ln w="12700">
            <a:solidFill>
              <a:srgbClr val="2A78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3081528" y="1645919"/>
            <a:ext cx="91440" cy="91440"/>
          </a:xfrm>
          <a:prstGeom prst="ellipse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209544" y="1572768"/>
            <a:ext cx="237744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150"/>
              </a:spcAft>
            </a:pPr>
            <a:r>
              <a:rPr sz="950" b="1" i="0">
                <a:solidFill>
                  <a:srgbClr val="0B0B0B"/>
                </a:solidFill>
                <a:latin typeface="Microsoft YaHei"/>
                <a:ea typeface="Microsoft YaHei"/>
              </a:rPr>
              <a:t>支持图 + kNN 内容图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99232" y="1810512"/>
            <a:ext cx="64008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150"/>
              </a:spcAft>
            </a:pPr>
            <a:r>
              <a:rPr sz="750" b="0" i="0">
                <a:solidFill>
                  <a:srgbClr val="898781"/>
                </a:solidFill>
                <a:latin typeface="Microsoft YaHei"/>
                <a:ea typeface="Microsoft YaHei"/>
              </a:rPr>
              <a:t>miRNA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950208" y="1810512"/>
            <a:ext cx="64008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150"/>
              </a:spcAft>
            </a:pPr>
            <a:r>
              <a:rPr sz="750" b="0" i="0">
                <a:solidFill>
                  <a:srgbClr val="898781"/>
                </a:solidFill>
                <a:latin typeface="Microsoft YaHei"/>
                <a:ea typeface="Microsoft YaHei"/>
              </a:rPr>
              <a:t>drug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3378708" y="2048256"/>
            <a:ext cx="832104" cy="0"/>
          </a:xfrm>
          <a:prstGeom prst="line">
            <a:avLst/>
          </a:prstGeom>
          <a:ln w="15875">
            <a:solidFill>
              <a:srgbClr val="2A78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3378708" y="2048256"/>
            <a:ext cx="832104" cy="256032"/>
          </a:xfrm>
          <a:prstGeom prst="line">
            <a:avLst/>
          </a:prstGeom>
          <a:ln w="15875">
            <a:solidFill>
              <a:srgbClr val="2A78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3378708" y="2304288"/>
            <a:ext cx="832104" cy="0"/>
          </a:xfrm>
          <a:prstGeom prst="line">
            <a:avLst/>
          </a:prstGeom>
          <a:ln w="15875">
            <a:solidFill>
              <a:srgbClr val="2A78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3378708" y="2560320"/>
            <a:ext cx="832104" cy="0"/>
          </a:xfrm>
          <a:prstGeom prst="line">
            <a:avLst/>
          </a:prstGeom>
          <a:ln w="15875">
            <a:solidFill>
              <a:srgbClr val="2A78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3319272" y="2363724"/>
            <a:ext cx="0" cy="137160"/>
          </a:xfrm>
          <a:prstGeom prst="line">
            <a:avLst/>
          </a:prstGeom>
          <a:ln w="12700">
            <a:solidFill>
              <a:srgbClr val="52514E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4270248" y="2107692"/>
            <a:ext cx="0" cy="137160"/>
          </a:xfrm>
          <a:prstGeom prst="line">
            <a:avLst/>
          </a:prstGeom>
          <a:ln w="12700">
            <a:solidFill>
              <a:srgbClr val="52514E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Oval 23"/>
          <p:cNvSpPr/>
          <p:nvPr/>
        </p:nvSpPr>
        <p:spPr>
          <a:xfrm>
            <a:off x="3259836" y="1988820"/>
            <a:ext cx="118872" cy="118872"/>
          </a:xfrm>
          <a:prstGeom prst="ellipse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4210812" y="1988820"/>
            <a:ext cx="118872" cy="118872"/>
          </a:xfrm>
          <a:prstGeom prst="roundRect">
            <a:avLst>
              <a:gd name="adj" fmla="val 20000"/>
            </a:avLst>
          </a:prstGeom>
          <a:solidFill>
            <a:srgbClr val="FCFCFB"/>
          </a:solidFill>
          <a:ln w="9525">
            <a:solidFill>
              <a:srgbClr val="2A78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3259836" y="2244852"/>
            <a:ext cx="118872" cy="118872"/>
          </a:xfrm>
          <a:prstGeom prst="ellipse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4210812" y="2244852"/>
            <a:ext cx="118872" cy="118872"/>
          </a:xfrm>
          <a:prstGeom prst="roundRect">
            <a:avLst>
              <a:gd name="adj" fmla="val 20000"/>
            </a:avLst>
          </a:prstGeom>
          <a:solidFill>
            <a:srgbClr val="FCFCFB"/>
          </a:solidFill>
          <a:ln w="9525">
            <a:solidFill>
              <a:srgbClr val="2A78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3259836" y="2500884"/>
            <a:ext cx="118872" cy="118872"/>
          </a:xfrm>
          <a:prstGeom prst="ellipse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4210812" y="2500884"/>
            <a:ext cx="118872" cy="118872"/>
          </a:xfrm>
          <a:prstGeom prst="roundRect">
            <a:avLst>
              <a:gd name="adj" fmla="val 20000"/>
            </a:avLst>
          </a:prstGeom>
          <a:solidFill>
            <a:srgbClr val="FCFCFB"/>
          </a:solidFill>
          <a:ln w="9525">
            <a:solidFill>
              <a:srgbClr val="2A78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754880" y="1847088"/>
            <a:ext cx="1399031" cy="822960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750" b="0" i="0">
                <a:solidFill>
                  <a:srgbClr val="52514E"/>
                </a:solidFill>
                <a:latin typeface="Microsoft YaHei"/>
                <a:ea typeface="Microsoft YaHei"/>
              </a:rPr>
              <a:t>二部支持图：仅训练正例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750" b="0" i="0">
                <a:solidFill>
                  <a:srgbClr val="52514E"/>
                </a:solidFill>
                <a:latin typeface="Microsoft YaHei"/>
                <a:ea typeface="Microsoft YaHei"/>
              </a:rPr>
              <a:t>kNN 内容图：miRNA / 药物相似度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750" b="0" i="0">
                <a:solidFill>
                  <a:srgbClr val="52514E"/>
                </a:solidFill>
                <a:latin typeface="Microsoft YaHei"/>
                <a:ea typeface="Microsoft YaHei"/>
              </a:rPr>
              <a:t>实线 = 支持边；虚线 = kNN 边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629400" y="1536192"/>
            <a:ext cx="2240280" cy="1170432"/>
          </a:xfrm>
          <a:prstGeom prst="roundRect">
            <a:avLst>
              <a:gd name="adj" fmla="val 6000"/>
            </a:avLst>
          </a:prstGeom>
          <a:solidFill>
            <a:srgbClr val="FCFCFB"/>
          </a:solidFill>
          <a:ln w="9525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629400" y="1627632"/>
            <a:ext cx="64008" cy="987552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775704" y="1581912"/>
            <a:ext cx="2039112" cy="1078992"/>
          </a:xfrm>
          <a:prstGeom prst="rect">
            <a:avLst/>
          </a:prstGeom>
          <a:noFill/>
        </p:spPr>
        <p:txBody>
          <a:bodyPr wrap="square" lIns="0" tIns="18288" rIns="0" bIns="18288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950" b="1" i="0">
                <a:solidFill>
                  <a:srgbClr val="0B0B0B"/>
                </a:solidFill>
                <a:latin typeface="Microsoft YaHei"/>
                <a:ea typeface="Microsoft YaHei"/>
              </a:rPr>
              <a:t>ctx (33) + diff (52)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750" b="0" i="0">
                <a:solidFill>
                  <a:srgbClr val="52514E"/>
                </a:solidFill>
                <a:latin typeface="Microsoft YaHei"/>
                <a:ea typeface="Microsoft YaHei"/>
              </a:rPr>
              <a:t>度、共邻、path3/5、SVD16、属性支撑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750" b="0" i="0">
                <a:solidFill>
                  <a:srgbClr val="52514E"/>
                </a:solidFill>
                <a:latin typeface="Microsoft YaHei"/>
                <a:ea typeface="Microsoft YaHei"/>
              </a:rPr>
              <a:t>PPR / Katz / path7 及行、列归一化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750" b="0" i="0">
                <a:solidFill>
                  <a:srgbClr val="52514E"/>
                </a:solidFill>
                <a:latin typeface="Microsoft YaHei"/>
                <a:ea typeface="Microsoft YaHei"/>
              </a:rPr>
              <a:t>（原 iNcRD-HG 特征库）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2560320" y="2121408"/>
            <a:ext cx="411480" cy="0"/>
          </a:xfrm>
          <a:prstGeom prst="line">
            <a:avLst/>
          </a:prstGeom>
          <a:ln w="12700">
            <a:solidFill>
              <a:srgbClr val="52514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6217920" y="2121408"/>
            <a:ext cx="411480" cy="0"/>
          </a:xfrm>
          <a:prstGeom prst="line">
            <a:avLst/>
          </a:prstGeom>
          <a:ln w="12700">
            <a:solidFill>
              <a:srgbClr val="52514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8869680" y="2121408"/>
            <a:ext cx="411480" cy="1325880"/>
          </a:xfrm>
          <a:prstGeom prst="bentConnector3">
            <a:avLst/>
          </a:prstGeom>
          <a:ln w="12700">
            <a:solidFill>
              <a:srgbClr val="52514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Rounded Rectangle 36"/>
          <p:cNvSpPr/>
          <p:nvPr/>
        </p:nvSpPr>
        <p:spPr>
          <a:xfrm>
            <a:off x="411480" y="2862072"/>
            <a:ext cx="2148840" cy="1170432"/>
          </a:xfrm>
          <a:prstGeom prst="roundRect">
            <a:avLst>
              <a:gd name="adj" fmla="val 10000"/>
            </a:avLst>
          </a:prstGeom>
          <a:solidFill>
            <a:srgbClr val="FCE8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54864" bIns="54864"/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950" b="1" i="0">
                <a:solidFill>
                  <a:srgbClr val="0B0B0B"/>
                </a:solidFill>
                <a:latin typeface="Microsoft YaHei"/>
                <a:ea typeface="Microsoft YaHei"/>
              </a:rPr>
              <a:t>iNcRD-HG 溯源记录</a:t>
            </a:r>
          </a:p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850" b="0" i="0">
                <a:solidFill>
                  <a:srgbClr val="52514E"/>
                </a:solidFill>
                <a:latin typeface="Microsoft YaHei"/>
                <a:ea typeface="Microsoft YaHei"/>
              </a:rPr>
              <a:t>每条关联的 PMID，以及报道它的细胞系 / 表型 / 疾病语境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2971800" y="2862072"/>
            <a:ext cx="3246120" cy="1170432"/>
          </a:xfrm>
          <a:prstGeom prst="roundRect">
            <a:avLst>
              <a:gd name="adj" fmla="val 10000"/>
            </a:avLst>
          </a:prstGeom>
          <a:solidFill>
            <a:srgbClr val="FCFCFB"/>
          </a:solidFill>
          <a:ln w="12700">
            <a:solidFill>
              <a:srgbClr val="EB68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3081528" y="2971800"/>
            <a:ext cx="91440" cy="91440"/>
          </a:xfrm>
          <a:prstGeom prst="ellipse">
            <a:avLst/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209544" y="2898648"/>
            <a:ext cx="237744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150"/>
              </a:spcAft>
            </a:pPr>
            <a:r>
              <a:rPr sz="950" b="1" i="0">
                <a:solidFill>
                  <a:srgbClr val="0B0B0B"/>
                </a:solidFill>
                <a:latin typeface="Microsoft YaHei"/>
                <a:ea typeface="Microsoft YaHei"/>
              </a:rPr>
              <a:t>溯源超图</a:t>
            </a:r>
          </a:p>
        </p:txBody>
      </p:sp>
      <p:sp>
        <p:nvSpPr>
          <p:cNvPr id="41" name="Oval 40"/>
          <p:cNvSpPr/>
          <p:nvPr/>
        </p:nvSpPr>
        <p:spPr>
          <a:xfrm>
            <a:off x="3081528" y="3191256"/>
            <a:ext cx="1627632" cy="786384"/>
          </a:xfrm>
          <a:prstGeom prst="ellipse">
            <a:avLst/>
          </a:prstGeom>
          <a:solidFill>
            <a:srgbClr val="EB6834">
              <a:alpha val="1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081528" y="3209544"/>
            <a:ext cx="1627632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150"/>
              </a:spcAft>
            </a:pPr>
            <a:r>
              <a:rPr sz="750" b="0" i="0">
                <a:solidFill>
                  <a:srgbClr val="52514E"/>
                </a:solidFill>
                <a:latin typeface="Microsoft YaHei"/>
                <a:ea typeface="Microsoft YaHei"/>
              </a:rPr>
              <a:t>PMID 研究超边</a:t>
            </a:r>
          </a:p>
        </p:txBody>
      </p:sp>
      <p:cxnSp>
        <p:nvCxnSpPr>
          <p:cNvPr id="43" name="Connector 42"/>
          <p:cNvCxnSpPr/>
          <p:nvPr/>
        </p:nvCxnSpPr>
        <p:spPr>
          <a:xfrm>
            <a:off x="3488436" y="3465576"/>
            <a:ext cx="813815" cy="0"/>
          </a:xfrm>
          <a:prstGeom prst="line">
            <a:avLst/>
          </a:prstGeom>
          <a:ln w="15875">
            <a:solidFill>
              <a:srgbClr val="52514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3488436" y="3813048"/>
            <a:ext cx="813815" cy="0"/>
          </a:xfrm>
          <a:prstGeom prst="line">
            <a:avLst/>
          </a:prstGeom>
          <a:ln w="15875">
            <a:solidFill>
              <a:srgbClr val="52514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3488436" y="3483864"/>
            <a:ext cx="813815" cy="310896"/>
          </a:xfrm>
          <a:prstGeom prst="line">
            <a:avLst/>
          </a:prstGeom>
          <a:ln w="19050">
            <a:solidFill>
              <a:srgbClr val="EB6834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TextBox 45"/>
          <p:cNvSpPr txBox="1"/>
          <p:nvPr/>
        </p:nvSpPr>
        <p:spPr>
          <a:xfrm>
            <a:off x="3337560" y="3657600"/>
            <a:ext cx="566928" cy="11887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r">
              <a:lnSpc>
                <a:spcPct val="105000"/>
              </a:lnSpc>
              <a:spcAft>
                <a:spcPts val="150"/>
              </a:spcAft>
            </a:pPr>
            <a:r>
              <a:rPr sz="650" b="0" i="0">
                <a:solidFill>
                  <a:srgbClr val="52514E"/>
                </a:solidFill>
                <a:latin typeface="Microsoft YaHei"/>
                <a:ea typeface="Microsoft YaHei"/>
              </a:rPr>
              <a:t>桥接 m₁–d₂</a:t>
            </a:r>
          </a:p>
        </p:txBody>
      </p:sp>
      <p:sp>
        <p:nvSpPr>
          <p:cNvPr id="47" name="Oval 46"/>
          <p:cNvSpPr/>
          <p:nvPr/>
        </p:nvSpPr>
        <p:spPr>
          <a:xfrm>
            <a:off x="3369564" y="3406140"/>
            <a:ext cx="118872" cy="118872"/>
          </a:xfrm>
          <a:prstGeom prst="ellipse">
            <a:avLst/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3369564" y="3753611"/>
            <a:ext cx="118872" cy="118872"/>
          </a:xfrm>
          <a:prstGeom prst="ellipse">
            <a:avLst/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ounded Rectangle 48"/>
          <p:cNvSpPr/>
          <p:nvPr/>
        </p:nvSpPr>
        <p:spPr>
          <a:xfrm>
            <a:off x="4302251" y="3406140"/>
            <a:ext cx="118872" cy="118872"/>
          </a:xfrm>
          <a:prstGeom prst="roundRect">
            <a:avLst>
              <a:gd name="adj" fmla="val 20000"/>
            </a:avLst>
          </a:prstGeom>
          <a:solidFill>
            <a:srgbClr val="FCFCFB"/>
          </a:solidFill>
          <a:ln w="9525">
            <a:solidFill>
              <a:srgbClr val="EB68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ounded Rectangle 49"/>
          <p:cNvSpPr/>
          <p:nvPr/>
        </p:nvSpPr>
        <p:spPr>
          <a:xfrm>
            <a:off x="4302251" y="3753611"/>
            <a:ext cx="118872" cy="118872"/>
          </a:xfrm>
          <a:prstGeom prst="roundRect">
            <a:avLst>
              <a:gd name="adj" fmla="val 20000"/>
            </a:avLst>
          </a:prstGeom>
          <a:solidFill>
            <a:srgbClr val="FCFCFB"/>
          </a:solidFill>
          <a:ln w="9525">
            <a:solidFill>
              <a:srgbClr val="EB68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3063240" y="3383280"/>
            <a:ext cx="27432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5000"/>
              </a:lnSpc>
              <a:spcAft>
                <a:spcPts val="150"/>
              </a:spcAft>
            </a:pPr>
            <a:r>
              <a:rPr sz="700" b="0" i="0">
                <a:solidFill>
                  <a:srgbClr val="52514E"/>
                </a:solidFill>
                <a:latin typeface="Microsoft YaHei"/>
                <a:ea typeface="Microsoft YaHei"/>
              </a:rPr>
              <a:t>m₁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3063240" y="3730752"/>
            <a:ext cx="27432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5000"/>
              </a:lnSpc>
              <a:spcAft>
                <a:spcPts val="150"/>
              </a:spcAft>
            </a:pPr>
            <a:r>
              <a:rPr sz="700" b="0" i="0">
                <a:solidFill>
                  <a:srgbClr val="52514E"/>
                </a:solidFill>
                <a:latin typeface="Microsoft YaHei"/>
                <a:ea typeface="Microsoft YaHei"/>
              </a:rPr>
              <a:t>m₂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453127" y="3383280"/>
            <a:ext cx="27432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150"/>
              </a:spcAft>
            </a:pPr>
            <a:r>
              <a:rPr sz="700" b="0" i="0">
                <a:solidFill>
                  <a:srgbClr val="52514E"/>
                </a:solidFill>
                <a:latin typeface="Microsoft YaHei"/>
                <a:ea typeface="Microsoft YaHei"/>
              </a:rPr>
              <a:t>d₁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453127" y="3730752"/>
            <a:ext cx="27432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150"/>
              </a:spcAft>
            </a:pPr>
            <a:r>
              <a:rPr sz="700" b="0" i="0">
                <a:solidFill>
                  <a:srgbClr val="52514E"/>
                </a:solidFill>
                <a:latin typeface="Microsoft YaHei"/>
                <a:ea typeface="Microsoft YaHei"/>
              </a:rPr>
              <a:t>d₂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754880" y="3172968"/>
            <a:ext cx="1399031" cy="822960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750" b="0" i="0">
                <a:solidFill>
                  <a:srgbClr val="52514E"/>
                </a:solidFill>
                <a:latin typeface="Microsoft YaHei"/>
                <a:ea typeface="Microsoft YaHei"/>
              </a:rPr>
              <a:t>研究超边：同一 PMID 报道的全部 (m, d)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750" b="0" i="0">
                <a:solidFill>
                  <a:srgbClr val="52514E"/>
                </a:solidFill>
                <a:latin typeface="Microsoft YaHei"/>
                <a:ea typeface="Microsoft YaHei"/>
              </a:rPr>
              <a:t>语境超边：细胞系 / 表型 / 疾病 token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750" b="0" i="0">
                <a:solidFill>
                  <a:srgbClr val="52514E"/>
                </a:solidFill>
                <a:latin typeface="Microsoft YaHei"/>
                <a:ea typeface="Microsoft YaHei"/>
              </a:rPr>
              <a:t>共研究图 S = M·Mᵀ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6629400" y="2862072"/>
            <a:ext cx="2240280" cy="1170432"/>
          </a:xfrm>
          <a:prstGeom prst="roundRect">
            <a:avLst>
              <a:gd name="adj" fmla="val 6000"/>
            </a:avLst>
          </a:prstGeom>
          <a:solidFill>
            <a:srgbClr val="FCFCFB"/>
          </a:solidFill>
          <a:ln w="9525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6629400" y="2953512"/>
            <a:ext cx="64008" cy="987552"/>
          </a:xfrm>
          <a:prstGeom prst="rect">
            <a:avLst/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6775704" y="2907791"/>
            <a:ext cx="2039112" cy="1078992"/>
          </a:xfrm>
          <a:prstGeom prst="rect">
            <a:avLst/>
          </a:prstGeom>
          <a:noFill/>
        </p:spPr>
        <p:txBody>
          <a:bodyPr wrap="square" lIns="0" tIns="18288" rIns="0" bIns="18288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950" b="1" i="0">
                <a:solidFill>
                  <a:srgbClr val="0B0B0B"/>
                </a:solidFill>
                <a:latin typeface="Microsoft YaHei"/>
                <a:ea typeface="Microsoft YaHei"/>
              </a:rPr>
              <a:t>prov (24)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750" b="0" i="0">
                <a:solidFill>
                  <a:srgbClr val="52514E"/>
                </a:solidFill>
                <a:latin typeface="Microsoft YaHei"/>
                <a:ea typeface="Microsoft YaHei"/>
              </a:rPr>
              <a:t>PMID 桥接 |P_m ∩ P_d|、规模加权、Jaccard (6)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750" b="0" i="0">
                <a:solidFill>
                  <a:srgbClr val="52514E"/>
                </a:solidFill>
                <a:latin typeface="Microsoft YaHei"/>
                <a:ea typeface="Microsoft YaHei"/>
              </a:rPr>
              <a:t>共研究传递 (S_r A)、(A S_d) (6)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750" b="0" i="0">
                <a:solidFill>
                  <a:srgbClr val="52514E"/>
                </a:solidFill>
                <a:latin typeface="Microsoft YaHei"/>
                <a:ea typeface="Microsoft YaHei"/>
              </a:rPr>
              <a:t>语境 token 交集 (4) · 记录统计 (8)</a:t>
            </a:r>
          </a:p>
        </p:txBody>
      </p:sp>
      <p:cxnSp>
        <p:nvCxnSpPr>
          <p:cNvPr id="59" name="Connector 58"/>
          <p:cNvCxnSpPr/>
          <p:nvPr/>
        </p:nvCxnSpPr>
        <p:spPr>
          <a:xfrm>
            <a:off x="2560320" y="3447288"/>
            <a:ext cx="411480" cy="0"/>
          </a:xfrm>
          <a:prstGeom prst="line">
            <a:avLst/>
          </a:prstGeom>
          <a:ln w="12700">
            <a:solidFill>
              <a:srgbClr val="52514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>
            <a:off x="6217920" y="3447288"/>
            <a:ext cx="411480" cy="0"/>
          </a:xfrm>
          <a:prstGeom prst="line">
            <a:avLst/>
          </a:prstGeom>
          <a:ln w="12700">
            <a:solidFill>
              <a:srgbClr val="52514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>
            <a:off x="8869680" y="3447288"/>
            <a:ext cx="411480" cy="0"/>
          </a:xfrm>
          <a:prstGeom prst="line">
            <a:avLst/>
          </a:prstGeom>
          <a:ln w="12700">
            <a:solidFill>
              <a:srgbClr val="52514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2" name="Rounded Rectangle 61"/>
          <p:cNvSpPr/>
          <p:nvPr/>
        </p:nvSpPr>
        <p:spPr>
          <a:xfrm>
            <a:off x="411480" y="4187952"/>
            <a:ext cx="2148840" cy="1170432"/>
          </a:xfrm>
          <a:prstGeom prst="roundRect">
            <a:avLst>
              <a:gd name="adj" fmla="val 10000"/>
            </a:avLst>
          </a:prstGeom>
          <a:solidFill>
            <a:srgbClr val="DDF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54864" bIns="54864"/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950" b="1" i="0">
                <a:solidFill>
                  <a:srgbClr val="0B0B0B"/>
                </a:solidFill>
                <a:latin typeface="Microsoft YaHei"/>
                <a:ea typeface="Microsoft YaHei"/>
              </a:rPr>
              <a:t>miRNA 外部知识（标签无关）</a:t>
            </a:r>
          </a:p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850" b="0" i="0">
                <a:solidFill>
                  <a:srgbClr val="52514E"/>
                </a:solidFill>
                <a:latin typeface="Microsoft YaHei"/>
                <a:ea typeface="Microsoft YaHei"/>
              </a:rPr>
              <a:t>HMDD v4 疾病谱 · 名称 / seed 家族 · 另一表型矩阵中的度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2971800" y="4187952"/>
            <a:ext cx="3246120" cy="1170432"/>
          </a:xfrm>
          <a:prstGeom prst="roundRect">
            <a:avLst>
              <a:gd name="adj" fmla="val 10000"/>
            </a:avLst>
          </a:prstGeom>
          <a:solidFill>
            <a:srgbClr val="FCFCFB"/>
          </a:solidFill>
          <a:ln w="12700">
            <a:solidFill>
              <a:srgbClr val="1BAF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Oval 63"/>
          <p:cNvSpPr/>
          <p:nvPr/>
        </p:nvSpPr>
        <p:spPr>
          <a:xfrm>
            <a:off x="3081528" y="4297680"/>
            <a:ext cx="91440" cy="91440"/>
          </a:xfrm>
          <a:prstGeom prst="ellipse">
            <a:avLst/>
          </a:prstGeom>
          <a:solidFill>
            <a:srgbClr val="1BAF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3209544" y="4224528"/>
            <a:ext cx="237744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150"/>
              </a:spcAft>
            </a:pPr>
            <a:r>
              <a:rPr sz="950" b="1" i="0">
                <a:solidFill>
                  <a:srgbClr val="0B0B0B"/>
                </a:solidFill>
                <a:latin typeface="Microsoft YaHei"/>
                <a:ea typeface="Microsoft YaHei"/>
              </a:rPr>
              <a:t>miRNA 旁信息关系</a:t>
            </a:r>
          </a:p>
        </p:txBody>
      </p:sp>
      <p:cxnSp>
        <p:nvCxnSpPr>
          <p:cNvPr id="66" name="Connector 65"/>
          <p:cNvCxnSpPr/>
          <p:nvPr/>
        </p:nvCxnSpPr>
        <p:spPr>
          <a:xfrm flipV="1">
            <a:off x="3342132" y="4663440"/>
            <a:ext cx="288036" cy="256032"/>
          </a:xfrm>
          <a:prstGeom prst="line">
            <a:avLst/>
          </a:prstGeom>
          <a:ln w="15875">
            <a:solidFill>
              <a:srgbClr val="1BAF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7" name="Rounded Rectangle 66"/>
          <p:cNvSpPr/>
          <p:nvPr/>
        </p:nvSpPr>
        <p:spPr>
          <a:xfrm>
            <a:off x="3630168" y="4562856"/>
            <a:ext cx="1060704" cy="201168"/>
          </a:xfrm>
          <a:prstGeom prst="roundRect">
            <a:avLst>
              <a:gd name="adj" fmla="val 10000"/>
            </a:avLst>
          </a:prstGeom>
          <a:solidFill>
            <a:srgbClr val="DDF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tIns="0" rIns="18288" bIns="0"/>
          <a:lstStyle/>
          <a:p>
            <a:pPr algn="ctr">
              <a:lnSpc>
                <a:spcPct val="105000"/>
              </a:lnSpc>
              <a:spcAft>
                <a:spcPts val="150"/>
              </a:spcAft>
            </a:pPr>
            <a:r>
              <a:rPr sz="700" b="0" i="0">
                <a:solidFill>
                  <a:srgbClr val="0B0B0B"/>
                </a:solidFill>
                <a:latin typeface="Microsoft YaHei"/>
                <a:ea typeface="Microsoft YaHei"/>
              </a:rPr>
              <a:t>名称 / seed 家族</a:t>
            </a:r>
          </a:p>
        </p:txBody>
      </p:sp>
      <p:cxnSp>
        <p:nvCxnSpPr>
          <p:cNvPr id="68" name="Connector 67"/>
          <p:cNvCxnSpPr/>
          <p:nvPr/>
        </p:nvCxnSpPr>
        <p:spPr>
          <a:xfrm>
            <a:off x="3342132" y="4919472"/>
            <a:ext cx="288036" cy="0"/>
          </a:xfrm>
          <a:prstGeom prst="line">
            <a:avLst/>
          </a:prstGeom>
          <a:ln w="15875">
            <a:solidFill>
              <a:srgbClr val="1BAF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9" name="Rounded Rectangle 68"/>
          <p:cNvSpPr/>
          <p:nvPr/>
        </p:nvSpPr>
        <p:spPr>
          <a:xfrm>
            <a:off x="3630168" y="4818888"/>
            <a:ext cx="1060704" cy="201168"/>
          </a:xfrm>
          <a:prstGeom prst="roundRect">
            <a:avLst>
              <a:gd name="adj" fmla="val 10000"/>
            </a:avLst>
          </a:prstGeom>
          <a:solidFill>
            <a:srgbClr val="DDF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tIns="0" rIns="18288" bIns="0"/>
          <a:lstStyle/>
          <a:p>
            <a:pPr algn="ctr">
              <a:lnSpc>
                <a:spcPct val="105000"/>
              </a:lnSpc>
              <a:spcAft>
                <a:spcPts val="150"/>
              </a:spcAft>
            </a:pPr>
            <a:r>
              <a:rPr sz="700" b="0" i="0">
                <a:solidFill>
                  <a:srgbClr val="0B0B0B"/>
                </a:solidFill>
                <a:latin typeface="Microsoft YaHei"/>
                <a:ea typeface="Microsoft YaHei"/>
              </a:rPr>
              <a:t>HMDD 疾病谱</a:t>
            </a:r>
          </a:p>
        </p:txBody>
      </p:sp>
      <p:cxnSp>
        <p:nvCxnSpPr>
          <p:cNvPr id="70" name="Connector 69"/>
          <p:cNvCxnSpPr/>
          <p:nvPr/>
        </p:nvCxnSpPr>
        <p:spPr>
          <a:xfrm>
            <a:off x="3342132" y="4919472"/>
            <a:ext cx="288036" cy="256032"/>
          </a:xfrm>
          <a:prstGeom prst="line">
            <a:avLst/>
          </a:prstGeom>
          <a:ln w="15875">
            <a:solidFill>
              <a:srgbClr val="1BAF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1" name="Rounded Rectangle 70"/>
          <p:cNvSpPr/>
          <p:nvPr/>
        </p:nvSpPr>
        <p:spPr>
          <a:xfrm>
            <a:off x="3630168" y="5074920"/>
            <a:ext cx="1060704" cy="201168"/>
          </a:xfrm>
          <a:prstGeom prst="roundRect">
            <a:avLst>
              <a:gd name="adj" fmla="val 10000"/>
            </a:avLst>
          </a:prstGeom>
          <a:solidFill>
            <a:srgbClr val="DDF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tIns="0" rIns="18288" bIns="0"/>
          <a:lstStyle/>
          <a:p>
            <a:pPr algn="ctr">
              <a:lnSpc>
                <a:spcPct val="105000"/>
              </a:lnSpc>
              <a:spcAft>
                <a:spcPts val="150"/>
              </a:spcAft>
            </a:pPr>
            <a:r>
              <a:rPr sz="700" b="0" i="0">
                <a:solidFill>
                  <a:srgbClr val="0B0B0B"/>
                </a:solidFill>
                <a:latin typeface="Microsoft YaHei"/>
                <a:ea typeface="Microsoft YaHei"/>
              </a:rPr>
              <a:t>另一表型的度</a:t>
            </a:r>
          </a:p>
        </p:txBody>
      </p:sp>
      <p:sp>
        <p:nvSpPr>
          <p:cNvPr id="72" name="Oval 71"/>
          <p:cNvSpPr/>
          <p:nvPr/>
        </p:nvSpPr>
        <p:spPr>
          <a:xfrm>
            <a:off x="3186684" y="4841748"/>
            <a:ext cx="155448" cy="155448"/>
          </a:xfrm>
          <a:prstGeom prst="ellipse">
            <a:avLst/>
          </a:prstGeom>
          <a:solidFill>
            <a:srgbClr val="1BAF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2898648" y="5006340"/>
            <a:ext cx="73152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150"/>
              </a:spcAft>
            </a:pPr>
            <a:r>
              <a:rPr sz="750" b="0" i="0">
                <a:solidFill>
                  <a:srgbClr val="898781"/>
                </a:solidFill>
                <a:latin typeface="Microsoft YaHei"/>
                <a:ea typeface="Microsoft YaHei"/>
              </a:rPr>
              <a:t>miRNA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4754880" y="4498848"/>
            <a:ext cx="1399031" cy="822960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750" b="0" i="0">
                <a:solidFill>
                  <a:srgbClr val="52514E"/>
                </a:solidFill>
                <a:latin typeface="Microsoft YaHei"/>
                <a:ea typeface="Microsoft YaHei"/>
              </a:rPr>
              <a:t>miRNA → 家族 / 疾病 / 跨表型度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750" b="0" i="0">
                <a:solidFill>
                  <a:srgbClr val="52514E"/>
                </a:solidFill>
                <a:latin typeface="Microsoft YaHei"/>
                <a:ea typeface="Microsoft YaHei"/>
              </a:rPr>
              <a:t>标签无关，专门给零度、低度 miRNA 补信息</a:t>
            </a:r>
          </a:p>
        </p:txBody>
      </p:sp>
      <p:sp>
        <p:nvSpPr>
          <p:cNvPr id="75" name="Rounded Rectangle 74"/>
          <p:cNvSpPr/>
          <p:nvPr/>
        </p:nvSpPr>
        <p:spPr>
          <a:xfrm>
            <a:off x="6629400" y="4187952"/>
            <a:ext cx="2240280" cy="1170432"/>
          </a:xfrm>
          <a:prstGeom prst="roundRect">
            <a:avLst>
              <a:gd name="adj" fmla="val 6000"/>
            </a:avLst>
          </a:prstGeom>
          <a:solidFill>
            <a:srgbClr val="FCFCFB"/>
          </a:solidFill>
          <a:ln w="9525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6629400" y="4279392"/>
            <a:ext cx="64008" cy="987552"/>
          </a:xfrm>
          <a:prstGeom prst="rect">
            <a:avLst/>
          </a:prstGeom>
          <a:solidFill>
            <a:srgbClr val="1BAF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6775704" y="4233672"/>
            <a:ext cx="2039112" cy="1078992"/>
          </a:xfrm>
          <a:prstGeom prst="rect">
            <a:avLst/>
          </a:prstGeom>
          <a:noFill/>
        </p:spPr>
        <p:txBody>
          <a:bodyPr wrap="square" lIns="0" tIns="18288" rIns="0" bIns="18288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950" b="1" i="0">
                <a:solidFill>
                  <a:srgbClr val="0B0B0B"/>
                </a:solidFill>
                <a:latin typeface="Microsoft YaHei"/>
                <a:ea typeface="Microsoft YaHei"/>
              </a:rPr>
              <a:t>mprior (19)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750" b="0" i="0">
                <a:solidFill>
                  <a:srgbClr val="52514E"/>
                </a:solidFill>
                <a:latin typeface="Microsoft YaHei"/>
                <a:ea typeface="Microsoft YaHei"/>
              </a:rPr>
              <a:t>名称家族 (5) · seed 7-mer 家族 (5)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750" b="0" i="0">
                <a:solidFill>
                  <a:srgbClr val="52514E"/>
                </a:solidFill>
                <a:latin typeface="Microsoft YaHei"/>
                <a:ea typeface="Microsoft YaHei"/>
              </a:rPr>
              <a:t>HMDD 疾病桥 Σ H[m,dz]·(HᵀA)[dz,d] (7)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750" b="0" i="0">
                <a:solidFill>
                  <a:srgbClr val="52514E"/>
                </a:solidFill>
                <a:latin typeface="Microsoft YaHei"/>
                <a:ea typeface="Microsoft YaHei"/>
              </a:rPr>
              <a:t>另一表型的度 xdeg (2)</a:t>
            </a:r>
          </a:p>
        </p:txBody>
      </p:sp>
      <p:cxnSp>
        <p:nvCxnSpPr>
          <p:cNvPr id="78" name="Connector 77"/>
          <p:cNvCxnSpPr/>
          <p:nvPr/>
        </p:nvCxnSpPr>
        <p:spPr>
          <a:xfrm>
            <a:off x="2560320" y="4773168"/>
            <a:ext cx="411480" cy="0"/>
          </a:xfrm>
          <a:prstGeom prst="line">
            <a:avLst/>
          </a:prstGeom>
          <a:ln w="12700">
            <a:solidFill>
              <a:srgbClr val="52514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Connector 78"/>
          <p:cNvCxnSpPr/>
          <p:nvPr/>
        </p:nvCxnSpPr>
        <p:spPr>
          <a:xfrm>
            <a:off x="6217920" y="4773168"/>
            <a:ext cx="411480" cy="0"/>
          </a:xfrm>
          <a:prstGeom prst="line">
            <a:avLst/>
          </a:prstGeom>
          <a:ln w="12700">
            <a:solidFill>
              <a:srgbClr val="52514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Connector 79"/>
          <p:cNvCxnSpPr/>
          <p:nvPr/>
        </p:nvCxnSpPr>
        <p:spPr>
          <a:xfrm flipV="1">
            <a:off x="8869680" y="3447288"/>
            <a:ext cx="411480" cy="1325880"/>
          </a:xfrm>
          <a:prstGeom prst="bentConnector3">
            <a:avLst/>
          </a:prstGeom>
          <a:ln w="12700">
            <a:solidFill>
              <a:srgbClr val="52514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1" name="Rounded Rectangle 80"/>
          <p:cNvSpPr/>
          <p:nvPr/>
        </p:nvSpPr>
        <p:spPr>
          <a:xfrm>
            <a:off x="9281160" y="1536192"/>
            <a:ext cx="2514600" cy="1170432"/>
          </a:xfrm>
          <a:prstGeom prst="roundRect">
            <a:avLst>
              <a:gd name="adj" fmla="val 6000"/>
            </a:avLst>
          </a:prstGeom>
          <a:solidFill>
            <a:srgbClr val="F4F3EF"/>
          </a:solidFill>
          <a:ln w="9525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950" b="1" i="0">
                <a:solidFill>
                  <a:srgbClr val="0B0B0B"/>
                </a:solidFill>
                <a:latin typeface="Microsoft YaHei"/>
                <a:ea typeface="Microsoft YaHei"/>
              </a:rPr>
              <a:t>无泄漏交叉拟合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750" b="0" i="0">
                <a:solidFill>
                  <a:srgbClr val="52514E"/>
                </a:solidFill>
                <a:latin typeface="Microsoft YaHei"/>
                <a:ea typeface="Microsoft YaHei"/>
              </a:rPr>
              <a:t>训练行：K=10 内折，query 对绝不进入自己的 support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750" b="0" i="0">
                <a:solidFill>
                  <a:srgbClr val="52514E"/>
                </a:solidFill>
                <a:latin typeface="Microsoft YaHei"/>
                <a:ea typeface="Microsoft YaHei"/>
              </a:rPr>
              <a:t>测试行：用全部训练正例作 support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750" b="0" i="0">
                <a:solidFill>
                  <a:srgbClr val="52514E"/>
                </a:solidFill>
                <a:latin typeface="Microsoft YaHei"/>
                <a:ea typeface="Microsoft YaHei"/>
              </a:rPr>
              <a:t>所有启发式只读 support 正例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9281160" y="3072384"/>
            <a:ext cx="2514600" cy="201168"/>
          </a:xfrm>
          <a:prstGeom prst="rect">
            <a:avLst/>
          </a:prstGeom>
          <a:noFill/>
        </p:spPr>
        <p:txBody>
          <a:bodyPr wrap="square" lIns="18288" tIns="0" rIns="0" bIns="0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150"/>
              </a:spcAft>
            </a:pPr>
            <a:r>
              <a:rPr sz="800" b="0" i="0">
                <a:solidFill>
                  <a:srgbClr val="898781"/>
                </a:solidFill>
                <a:latin typeface="Microsoft YaHei"/>
                <a:ea typeface="Microsoft YaHei"/>
              </a:rPr>
              <a:t>拼接 128 列</a:t>
            </a:r>
          </a:p>
        </p:txBody>
      </p:sp>
      <p:sp>
        <p:nvSpPr>
          <p:cNvPr id="83" name="Rectangle 82"/>
          <p:cNvSpPr/>
          <p:nvPr/>
        </p:nvSpPr>
        <p:spPr>
          <a:xfrm>
            <a:off x="9281160" y="3291840"/>
            <a:ext cx="1633418" cy="310896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10942010" y="3291840"/>
            <a:ext cx="461200" cy="310896"/>
          </a:xfrm>
          <a:prstGeom prst="rect">
            <a:avLst/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11430642" y="3291840"/>
            <a:ext cx="365117" cy="310896"/>
          </a:xfrm>
          <a:prstGeom prst="rect">
            <a:avLst/>
          </a:prstGeom>
          <a:solidFill>
            <a:srgbClr val="1BAF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Oval 85"/>
          <p:cNvSpPr/>
          <p:nvPr/>
        </p:nvSpPr>
        <p:spPr>
          <a:xfrm>
            <a:off x="9308592" y="3685032"/>
            <a:ext cx="73152" cy="73152"/>
          </a:xfrm>
          <a:prstGeom prst="ellipse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9409176" y="3639312"/>
            <a:ext cx="73152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150"/>
              </a:spcAft>
            </a:pPr>
            <a:r>
              <a:rPr sz="750" b="0" i="0">
                <a:solidFill>
                  <a:srgbClr val="52514E"/>
                </a:solidFill>
                <a:latin typeface="Microsoft YaHei"/>
                <a:ea typeface="Microsoft YaHei"/>
              </a:rPr>
              <a:t>ctx+diff 85</a:t>
            </a:r>
          </a:p>
        </p:txBody>
      </p:sp>
      <p:sp>
        <p:nvSpPr>
          <p:cNvPr id="88" name="Oval 87"/>
          <p:cNvSpPr/>
          <p:nvPr/>
        </p:nvSpPr>
        <p:spPr>
          <a:xfrm>
            <a:off x="10158984" y="3685032"/>
            <a:ext cx="73152" cy="73152"/>
          </a:xfrm>
          <a:prstGeom prst="ellipse">
            <a:avLst/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10259567" y="3639312"/>
            <a:ext cx="73152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150"/>
              </a:spcAft>
            </a:pPr>
            <a:r>
              <a:rPr sz="750" b="0" i="0">
                <a:solidFill>
                  <a:srgbClr val="52514E"/>
                </a:solidFill>
                <a:latin typeface="Microsoft YaHei"/>
                <a:ea typeface="Microsoft YaHei"/>
              </a:rPr>
              <a:t>prov 24</a:t>
            </a:r>
          </a:p>
        </p:txBody>
      </p:sp>
      <p:sp>
        <p:nvSpPr>
          <p:cNvPr id="90" name="Oval 89"/>
          <p:cNvSpPr/>
          <p:nvPr/>
        </p:nvSpPr>
        <p:spPr>
          <a:xfrm>
            <a:off x="11009376" y="3685032"/>
            <a:ext cx="73152" cy="73152"/>
          </a:xfrm>
          <a:prstGeom prst="ellipse">
            <a:avLst/>
          </a:prstGeom>
          <a:solidFill>
            <a:srgbClr val="1BAF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11109959" y="3639312"/>
            <a:ext cx="73152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150"/>
              </a:spcAft>
            </a:pPr>
            <a:r>
              <a:rPr sz="750" b="0" i="0">
                <a:solidFill>
                  <a:srgbClr val="52514E"/>
                </a:solidFill>
                <a:latin typeface="Microsoft YaHei"/>
                <a:ea typeface="Microsoft YaHei"/>
              </a:rPr>
              <a:t>mprior 19</a:t>
            </a:r>
          </a:p>
        </p:txBody>
      </p:sp>
      <p:cxnSp>
        <p:nvCxnSpPr>
          <p:cNvPr id="92" name="Connector 91"/>
          <p:cNvCxnSpPr/>
          <p:nvPr/>
        </p:nvCxnSpPr>
        <p:spPr>
          <a:xfrm>
            <a:off x="10538460" y="3822191"/>
            <a:ext cx="0" cy="219457"/>
          </a:xfrm>
          <a:prstGeom prst="line">
            <a:avLst/>
          </a:prstGeom>
          <a:ln w="12700">
            <a:solidFill>
              <a:srgbClr val="52514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3" name="Rounded Rectangle 92"/>
          <p:cNvSpPr/>
          <p:nvPr/>
        </p:nvSpPr>
        <p:spPr>
          <a:xfrm>
            <a:off x="9281160" y="4041648"/>
            <a:ext cx="2514600" cy="804672"/>
          </a:xfrm>
          <a:prstGeom prst="roundRect">
            <a:avLst>
              <a:gd name="adj" fmla="val 8000"/>
            </a:avLst>
          </a:prstGeom>
          <a:solidFill>
            <a:srgbClr val="FCFCFB"/>
          </a:solidFill>
          <a:ln w="12700">
            <a:solidFill>
              <a:srgbClr val="5251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tIns="36576" rIns="54864" bIns="36576"/>
          <a:lstStyle/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900" b="0" i="0">
                <a:solidFill>
                  <a:srgbClr val="0B0B0B"/>
                </a:solidFill>
                <a:latin typeface="Microsoft YaHei"/>
                <a:ea typeface="Microsoft YaHei"/>
              </a:rPr>
              <a:t>z = signed log1p + 标准化</a:t>
            </a:r>
          </a:p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1050" b="1" i="0">
                <a:solidFill>
                  <a:srgbClr val="0B0B0B"/>
                </a:solidFill>
                <a:latin typeface="Microsoft YaHei"/>
                <a:ea typeface="Microsoft YaHei"/>
              </a:rPr>
              <a:t>score(m, d) = w·z + b</a:t>
            </a:r>
          </a:p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850" b="0" i="0">
                <a:solidFill>
                  <a:srgbClr val="52514E"/>
                </a:solidFill>
                <a:latin typeface="Microsoft YaHei"/>
                <a:ea typeface="Microsoft YaHei"/>
              </a:rPr>
              <a:t>逻辑回归，C = 0.3，约 130 个参数</a:t>
            </a:r>
          </a:p>
        </p:txBody>
      </p:sp>
      <p:cxnSp>
        <p:nvCxnSpPr>
          <p:cNvPr id="94" name="Connector 93"/>
          <p:cNvCxnSpPr/>
          <p:nvPr/>
        </p:nvCxnSpPr>
        <p:spPr>
          <a:xfrm>
            <a:off x="10538460" y="4846320"/>
            <a:ext cx="0" cy="182880"/>
          </a:xfrm>
          <a:prstGeom prst="line">
            <a:avLst/>
          </a:prstGeom>
          <a:ln w="12700">
            <a:solidFill>
              <a:srgbClr val="52514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5" name="Rounded Rectangle 94"/>
          <p:cNvSpPr/>
          <p:nvPr/>
        </p:nvSpPr>
        <p:spPr>
          <a:xfrm>
            <a:off x="9784080" y="5029200"/>
            <a:ext cx="1508760" cy="329184"/>
          </a:xfrm>
          <a:prstGeom prst="roundRect">
            <a:avLst>
              <a:gd name="adj" fmla="val 30000"/>
            </a:avLst>
          </a:prstGeom>
          <a:solidFill>
            <a:srgbClr val="0B0B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>
              <a:lnSpc>
                <a:spcPct val="105000"/>
              </a:lnSpc>
              <a:spcAft>
                <a:spcPts val="150"/>
              </a:spcAft>
            </a:pPr>
            <a:r>
              <a:rPr sz="1100" b="1" i="0">
                <a:solidFill>
                  <a:srgbClr val="FFFFFF"/>
                </a:solidFill>
                <a:latin typeface="Microsoft YaHei"/>
                <a:ea typeface="Microsoft YaHei"/>
              </a:rPr>
              <a:t>score(m, d)</a:t>
            </a:r>
          </a:p>
        </p:txBody>
      </p:sp>
      <p:sp>
        <p:nvSpPr>
          <p:cNvPr id="96" name="Rounded Rectangle 95"/>
          <p:cNvSpPr/>
          <p:nvPr/>
        </p:nvSpPr>
        <p:spPr>
          <a:xfrm>
            <a:off x="411480" y="5650992"/>
            <a:ext cx="2761488" cy="841248"/>
          </a:xfrm>
          <a:prstGeom prst="roundRect">
            <a:avLst>
              <a:gd name="adj" fmla="val 6000"/>
            </a:avLst>
          </a:prstGeom>
          <a:solidFill>
            <a:srgbClr val="F4F3EF"/>
          </a:solidFill>
          <a:ln w="9525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bIns="36576"/>
          <a:lstStyle/>
          <a:p>
            <a:pPr algn="l">
              <a:lnSpc>
                <a:spcPct val="105000"/>
              </a:lnSpc>
              <a:spcAft>
                <a:spcPts val="100"/>
              </a:spcAft>
            </a:pPr>
            <a:r>
              <a:rPr sz="750" b="0" i="0">
                <a:solidFill>
                  <a:srgbClr val="898781"/>
                </a:solidFill>
                <a:latin typeface="Microsoft YaHei"/>
                <a:ea typeface="Microsoft YaHei"/>
              </a:rPr>
              <a:t>MDR · AUC / AUPR（论文 5 折，4 seeds）</a:t>
            </a:r>
          </a:p>
          <a:p>
            <a:pPr algn="l">
              <a:lnSpc>
                <a:spcPct val="105000"/>
              </a:lnSpc>
              <a:spcAft>
                <a:spcPts val="100"/>
              </a:spcAft>
            </a:pPr>
            <a:r>
              <a:rPr sz="1400" b="1" i="0">
                <a:solidFill>
                  <a:srgbClr val="0B0B0B"/>
                </a:solidFill>
                <a:latin typeface="Microsoft YaHei"/>
                <a:ea typeface="Microsoft YaHei"/>
              </a:rPr>
              <a:t>0.9591 / 0.9565</a:t>
            </a:r>
          </a:p>
          <a:p>
            <a:pPr algn="l">
              <a:lnSpc>
                <a:spcPct val="105000"/>
              </a:lnSpc>
              <a:spcAft>
                <a:spcPts val="100"/>
              </a:spcAft>
            </a:pPr>
            <a:r>
              <a:rPr sz="750" b="0" i="0">
                <a:solidFill>
                  <a:srgbClr val="006300"/>
                </a:solidFill>
                <a:latin typeface="Microsoft YaHei"/>
                <a:ea typeface="Microsoft YaHei"/>
              </a:rPr>
              <a:t>+0.0062 / +0.0071 vs 基线 0.9529 / 0.9494（4/4 seeds）</a:t>
            </a:r>
          </a:p>
        </p:txBody>
      </p:sp>
      <p:sp>
        <p:nvSpPr>
          <p:cNvPr id="97" name="Rounded Rectangle 96"/>
          <p:cNvSpPr/>
          <p:nvPr/>
        </p:nvSpPr>
        <p:spPr>
          <a:xfrm>
            <a:off x="3273552" y="5650992"/>
            <a:ext cx="2761488" cy="841248"/>
          </a:xfrm>
          <a:prstGeom prst="roundRect">
            <a:avLst>
              <a:gd name="adj" fmla="val 6000"/>
            </a:avLst>
          </a:prstGeom>
          <a:solidFill>
            <a:srgbClr val="F4F3EF"/>
          </a:solidFill>
          <a:ln w="9525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bIns="36576"/>
          <a:lstStyle/>
          <a:p>
            <a:pPr algn="l">
              <a:lnSpc>
                <a:spcPct val="105000"/>
              </a:lnSpc>
              <a:spcAft>
                <a:spcPts val="100"/>
              </a:spcAft>
            </a:pPr>
            <a:r>
              <a:rPr sz="750" b="0" i="0">
                <a:solidFill>
                  <a:srgbClr val="898781"/>
                </a:solidFill>
                <a:latin typeface="Microsoft YaHei"/>
                <a:ea typeface="Microsoft YaHei"/>
              </a:rPr>
              <a:t>MDS · AUC / AUPR（论文 5 折，4 seeds）</a:t>
            </a:r>
          </a:p>
          <a:p>
            <a:pPr algn="l">
              <a:lnSpc>
                <a:spcPct val="105000"/>
              </a:lnSpc>
              <a:spcAft>
                <a:spcPts val="100"/>
              </a:spcAft>
            </a:pPr>
            <a:r>
              <a:rPr sz="1400" b="1" i="0">
                <a:solidFill>
                  <a:srgbClr val="0B0B0B"/>
                </a:solidFill>
                <a:latin typeface="Microsoft YaHei"/>
                <a:ea typeface="Microsoft YaHei"/>
              </a:rPr>
              <a:t>0.9607 / 0.9587</a:t>
            </a:r>
          </a:p>
          <a:p>
            <a:pPr algn="l">
              <a:lnSpc>
                <a:spcPct val="105000"/>
              </a:lnSpc>
              <a:spcAft>
                <a:spcPts val="100"/>
              </a:spcAft>
            </a:pPr>
            <a:r>
              <a:rPr sz="750" b="0" i="0">
                <a:solidFill>
                  <a:srgbClr val="006300"/>
                </a:solidFill>
                <a:latin typeface="Microsoft YaHei"/>
                <a:ea typeface="Microsoft YaHei"/>
              </a:rPr>
              <a:t>+0.0047 / +0.0051 vs 基线 0.9560 / 0.9536（4/4 seeds）</a:t>
            </a:r>
          </a:p>
        </p:txBody>
      </p:sp>
      <p:sp>
        <p:nvSpPr>
          <p:cNvPr id="98" name="Rounded Rectangle 97"/>
          <p:cNvSpPr/>
          <p:nvPr/>
        </p:nvSpPr>
        <p:spPr>
          <a:xfrm>
            <a:off x="6135624" y="5650992"/>
            <a:ext cx="2761488" cy="841248"/>
          </a:xfrm>
          <a:prstGeom prst="roundRect">
            <a:avLst>
              <a:gd name="adj" fmla="val 6000"/>
            </a:avLst>
          </a:prstGeom>
          <a:solidFill>
            <a:srgbClr val="F4F3EF"/>
          </a:solidFill>
          <a:ln w="9525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bIns="36576"/>
          <a:lstStyle/>
          <a:p>
            <a:pPr algn="l">
              <a:lnSpc>
                <a:spcPct val="105000"/>
              </a:lnSpc>
              <a:spcAft>
                <a:spcPts val="100"/>
              </a:spcAft>
            </a:pPr>
            <a:r>
              <a:rPr sz="750" b="0" i="0">
                <a:solidFill>
                  <a:srgbClr val="898781"/>
                </a:solidFill>
                <a:latin typeface="Microsoft YaHei"/>
                <a:ea typeface="Microsoft YaHei"/>
              </a:rPr>
              <a:t>打乱对照（溯源与旁信息置换）</a:t>
            </a:r>
          </a:p>
          <a:p>
            <a:pPr algn="l">
              <a:lnSpc>
                <a:spcPct val="105000"/>
              </a:lnSpc>
              <a:spcAft>
                <a:spcPts val="100"/>
              </a:spcAft>
            </a:pPr>
            <a:r>
              <a:rPr sz="1400" b="1" i="0">
                <a:solidFill>
                  <a:srgbClr val="0B0B0B"/>
                </a:solidFill>
                <a:latin typeface="Microsoft YaHei"/>
                <a:ea typeface="Microsoft YaHei"/>
              </a:rPr>
              <a:t>Δ ≈ 0</a:t>
            </a:r>
          </a:p>
          <a:p>
            <a:pPr algn="l">
              <a:lnSpc>
                <a:spcPct val="105000"/>
              </a:lnSpc>
              <a:spcAft>
                <a:spcPts val="100"/>
              </a:spcAft>
            </a:pPr>
            <a:r>
              <a:rPr sz="750" b="0" i="0">
                <a:solidFill>
                  <a:srgbClr val="52514E"/>
                </a:solidFill>
                <a:latin typeface="Microsoft YaHei"/>
                <a:ea typeface="Microsoft YaHei"/>
              </a:rPr>
              <a:t>+0.0007 / +0.0011 AUC，增益不是来自列数</a:t>
            </a:r>
          </a:p>
        </p:txBody>
      </p:sp>
      <p:sp>
        <p:nvSpPr>
          <p:cNvPr id="99" name="Rounded Rectangle 98"/>
          <p:cNvSpPr/>
          <p:nvPr/>
        </p:nvSpPr>
        <p:spPr>
          <a:xfrm>
            <a:off x="8997696" y="5650992"/>
            <a:ext cx="2761488" cy="841248"/>
          </a:xfrm>
          <a:prstGeom prst="roundRect">
            <a:avLst>
              <a:gd name="adj" fmla="val 6000"/>
            </a:avLst>
          </a:prstGeom>
          <a:solidFill>
            <a:srgbClr val="F4F3EF"/>
          </a:solidFill>
          <a:ln w="9525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bIns="36576"/>
          <a:lstStyle/>
          <a:p>
            <a:pPr algn="l">
              <a:lnSpc>
                <a:spcPct val="105000"/>
              </a:lnSpc>
              <a:spcAft>
                <a:spcPts val="100"/>
              </a:spcAft>
            </a:pPr>
            <a:r>
              <a:rPr sz="750" b="0" i="0">
                <a:solidFill>
                  <a:srgbClr val="898781"/>
                </a:solidFill>
                <a:latin typeface="Microsoft YaHei"/>
                <a:ea typeface="Microsoft YaHei"/>
              </a:rPr>
              <a:t>增益落在哪里</a:t>
            </a:r>
          </a:p>
          <a:p>
            <a:pPr algn="l">
              <a:lnSpc>
                <a:spcPct val="105000"/>
              </a:lnSpc>
              <a:spcAft>
                <a:spcPts val="100"/>
              </a:spcAft>
            </a:pPr>
            <a:r>
              <a:rPr sz="1400" b="1" i="0">
                <a:solidFill>
                  <a:srgbClr val="0B0B0B"/>
                </a:solidFill>
                <a:latin typeface="Microsoft YaHei"/>
                <a:ea typeface="Microsoft YaHei"/>
              </a:rPr>
              <a:t>稀疏 miRNA</a:t>
            </a:r>
          </a:p>
          <a:p>
            <a:pPr algn="l">
              <a:lnSpc>
                <a:spcPct val="105000"/>
              </a:lnSpc>
              <a:spcAft>
                <a:spcPts val="100"/>
              </a:spcAft>
            </a:pPr>
            <a:r>
              <a:rPr sz="750" b="0" i="0">
                <a:solidFill>
                  <a:srgbClr val="52514E"/>
                </a:solidFill>
                <a:latin typeface="Microsoft YaHei"/>
                <a:ea typeface="Microsoft YaHei"/>
              </a:rPr>
              <a:t>支持度 1–7 的正例损失下降 8–15%，16+ 持平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411480" y="6528816"/>
            <a:ext cx="11338560" cy="228600"/>
          </a:xfrm>
          <a:prstGeom prst="rect">
            <a:avLst/>
          </a:prstGeom>
          <a:noFill/>
        </p:spPr>
        <p:txBody>
          <a:bodyPr wrap="square" lIns="18288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150"/>
              </a:spcAft>
            </a:pPr>
            <a:r>
              <a:rPr sz="700" b="0" i="0">
                <a:solidFill>
                  <a:srgbClr val="898781"/>
                </a:solidFill>
                <a:latin typeface="Microsoft YaHei"/>
                <a:ea typeface="Microsoft YaHei"/>
              </a:rPr>
              <a:t>数值来自 REPORT_WARM_PHL.md §0、§4.1、§4.3；基线 = ctx+diff × LR（K=10）；对 PLMF-MDA 官方复现领先 +0.033~0.035 AUC / +0.040~0.042 AUPR。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28600"/>
            <a:ext cx="11338560" cy="438912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pPr algn="l">
              <a:lnSpc>
                <a:spcPct val="105000"/>
              </a:lnSpc>
              <a:spcAft>
                <a:spcPts val="150"/>
              </a:spcAft>
            </a:pPr>
            <a:r>
              <a:rPr sz="2000" b="1" i="0">
                <a:solidFill>
                  <a:srgbClr val="0B0B0B"/>
                </a:solidFill>
                <a:latin typeface="Microsoft YaHei"/>
                <a:ea typeface="Microsoft YaHei"/>
              </a:rPr>
              <a:t>诊断：warm 残差集中在稀疏 miRNA，PHL 的增益也落在那里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676656"/>
            <a:ext cx="11338560" cy="411480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pPr algn="l">
              <a:lnSpc>
                <a:spcPct val="105000"/>
              </a:lnSpc>
              <a:spcAft>
                <a:spcPts val="150"/>
              </a:spcAft>
            </a:pPr>
            <a:r>
              <a:rPr sz="1000" b="0" i="0">
                <a:solidFill>
                  <a:srgbClr val="52514E"/>
                </a:solidFill>
                <a:latin typeface="Microsoft YaHei"/>
                <a:ea typeface="Microsoft YaHei"/>
              </a:rPr>
              <a:t>seed 42，论文 5 折。损失 = 排在每个测试正例前面的负例比例（均值 = 1 − AUC）；按 miRNA 在训练支持图中的度数分桶。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1234440"/>
            <a:ext cx="3346703" cy="274320"/>
          </a:xfrm>
          <a:prstGeom prst="rect">
            <a:avLst/>
          </a:prstGeom>
          <a:noFill/>
        </p:spPr>
        <p:txBody>
          <a:bodyPr wrap="square" lIns="18288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150"/>
              </a:spcAft>
            </a:pPr>
            <a:r>
              <a:rPr sz="950" b="1" i="0">
                <a:solidFill>
                  <a:srgbClr val="0B0B0B"/>
                </a:solidFill>
                <a:latin typeface="Microsoft YaHei"/>
                <a:ea typeface="Microsoft YaHei"/>
              </a:rPr>
              <a:t>MDR · 正例占比 vs 损失占比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758183" y="1234440"/>
            <a:ext cx="2231136" cy="274320"/>
          </a:xfrm>
          <a:prstGeom prst="rect">
            <a:avLst/>
          </a:prstGeom>
          <a:noFill/>
        </p:spPr>
        <p:txBody>
          <a:bodyPr wrap="square" lIns="0" tIns="0" rIns="18288" bIns="0" anchor="ctr">
            <a:spAutoFit/>
          </a:bodyPr>
          <a:lstStyle/>
          <a:p>
            <a:pPr algn="r">
              <a:lnSpc>
                <a:spcPct val="105000"/>
              </a:lnSpc>
              <a:spcAft>
                <a:spcPts val="150"/>
              </a:spcAft>
            </a:pPr>
            <a:r>
              <a:rPr sz="800" b="0" i="0">
                <a:solidFill>
                  <a:srgbClr val="52514E"/>
                </a:solidFill>
                <a:latin typeface="Microsoft YaHei"/>
                <a:ea typeface="Microsoft YaHei"/>
              </a:rPr>
              <a:t>度 ≤3：正例 40%，损失 55%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411480" y="1508760"/>
          <a:ext cx="5577840" cy="23317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199632" y="1234440"/>
            <a:ext cx="3346703" cy="274320"/>
          </a:xfrm>
          <a:prstGeom prst="rect">
            <a:avLst/>
          </a:prstGeom>
          <a:noFill/>
        </p:spPr>
        <p:txBody>
          <a:bodyPr wrap="square" lIns="18288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150"/>
              </a:spcAft>
            </a:pPr>
            <a:r>
              <a:rPr sz="950" b="1" i="0">
                <a:solidFill>
                  <a:srgbClr val="0B0B0B"/>
                </a:solidFill>
                <a:latin typeface="Microsoft YaHei"/>
                <a:ea typeface="Microsoft YaHei"/>
              </a:rPr>
              <a:t>MDR · 正例侧单例均损：基线 → PHL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546336" y="1234440"/>
            <a:ext cx="2231136" cy="274320"/>
          </a:xfrm>
          <a:prstGeom prst="rect">
            <a:avLst/>
          </a:prstGeom>
          <a:noFill/>
        </p:spPr>
        <p:txBody>
          <a:bodyPr wrap="square" lIns="0" tIns="0" rIns="18288" bIns="0" anchor="ctr">
            <a:spAutoFit/>
          </a:bodyPr>
          <a:lstStyle/>
          <a:p>
            <a:pPr algn="r">
              <a:lnSpc>
                <a:spcPct val="105000"/>
              </a:lnSpc>
              <a:spcAft>
                <a:spcPts val="150"/>
              </a:spcAft>
            </a:pPr>
            <a:r>
              <a:rPr sz="800" b="0" i="0">
                <a:solidFill>
                  <a:srgbClr val="52514E"/>
                </a:solidFill>
                <a:latin typeface="Microsoft YaHei"/>
                <a:ea typeface="Microsoft YaHei"/>
              </a:rPr>
              <a:t>度 1–7 相对下降 13–15%；16+ 持平</a:t>
            </a:r>
          </a:p>
        </p:txBody>
      </p:sp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6199632" y="1508760"/>
          <a:ext cx="5577840" cy="233172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411480" y="3886200"/>
            <a:ext cx="3346703" cy="274320"/>
          </a:xfrm>
          <a:prstGeom prst="rect">
            <a:avLst/>
          </a:prstGeom>
          <a:noFill/>
        </p:spPr>
        <p:txBody>
          <a:bodyPr wrap="square" lIns="18288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150"/>
              </a:spcAft>
            </a:pPr>
            <a:r>
              <a:rPr sz="950" b="1" i="0">
                <a:solidFill>
                  <a:srgbClr val="0B0B0B"/>
                </a:solidFill>
                <a:latin typeface="Microsoft YaHei"/>
                <a:ea typeface="Microsoft YaHei"/>
              </a:rPr>
              <a:t>MDS · 正例占比 vs 损失占比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58183" y="3886200"/>
            <a:ext cx="2231136" cy="274320"/>
          </a:xfrm>
          <a:prstGeom prst="rect">
            <a:avLst/>
          </a:prstGeom>
          <a:noFill/>
        </p:spPr>
        <p:txBody>
          <a:bodyPr wrap="square" lIns="0" tIns="0" rIns="18288" bIns="0" anchor="ctr">
            <a:spAutoFit/>
          </a:bodyPr>
          <a:lstStyle/>
          <a:p>
            <a:pPr algn="r">
              <a:lnSpc>
                <a:spcPct val="105000"/>
              </a:lnSpc>
              <a:spcAft>
                <a:spcPts val="150"/>
              </a:spcAft>
            </a:pPr>
            <a:r>
              <a:rPr sz="800" b="0" i="0">
                <a:solidFill>
                  <a:srgbClr val="52514E"/>
                </a:solidFill>
                <a:latin typeface="Microsoft YaHei"/>
                <a:ea typeface="Microsoft YaHei"/>
              </a:rPr>
              <a:t>度 ≤3：正例 40%，损失 57%</a:t>
            </a:r>
          </a:p>
        </p:txBody>
      </p:sp>
      <p:graphicFrame>
        <p:nvGraphicFramePr>
          <p:cNvPr id="12" name="Chart 11"/>
          <p:cNvGraphicFramePr>
            <a:graphicFrameLocks noGrp="1"/>
          </p:cNvGraphicFramePr>
          <p:nvPr/>
        </p:nvGraphicFramePr>
        <p:xfrm>
          <a:off x="411480" y="4160520"/>
          <a:ext cx="5577840" cy="233172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6199632" y="3886200"/>
            <a:ext cx="3346703" cy="274320"/>
          </a:xfrm>
          <a:prstGeom prst="rect">
            <a:avLst/>
          </a:prstGeom>
          <a:noFill/>
        </p:spPr>
        <p:txBody>
          <a:bodyPr wrap="square" lIns="18288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150"/>
              </a:spcAft>
            </a:pPr>
            <a:r>
              <a:rPr sz="950" b="1" i="0">
                <a:solidFill>
                  <a:srgbClr val="0B0B0B"/>
                </a:solidFill>
                <a:latin typeface="Microsoft YaHei"/>
                <a:ea typeface="Microsoft YaHei"/>
              </a:rPr>
              <a:t>MDS · 正例侧单例均损：基线 → PHL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546336" y="3886200"/>
            <a:ext cx="2231136" cy="274320"/>
          </a:xfrm>
          <a:prstGeom prst="rect">
            <a:avLst/>
          </a:prstGeom>
          <a:noFill/>
        </p:spPr>
        <p:txBody>
          <a:bodyPr wrap="square" lIns="0" tIns="0" rIns="18288" bIns="0" anchor="ctr">
            <a:spAutoFit/>
          </a:bodyPr>
          <a:lstStyle/>
          <a:p>
            <a:pPr algn="r">
              <a:lnSpc>
                <a:spcPct val="105000"/>
              </a:lnSpc>
              <a:spcAft>
                <a:spcPts val="150"/>
              </a:spcAft>
            </a:pPr>
            <a:r>
              <a:rPr sz="800" b="0" i="0">
                <a:solidFill>
                  <a:srgbClr val="52514E"/>
                </a:solidFill>
                <a:latin typeface="Microsoft YaHei"/>
                <a:ea typeface="Microsoft YaHei"/>
              </a:rPr>
              <a:t>度 1–7 相对下降 8–14%；16+ 持平</a:t>
            </a:r>
          </a:p>
        </p:txBody>
      </p:sp>
      <p:graphicFrame>
        <p:nvGraphicFramePr>
          <p:cNvPr id="15" name="Chart 14"/>
          <p:cNvGraphicFramePr>
            <a:graphicFrameLocks noGrp="1"/>
          </p:cNvGraphicFramePr>
          <p:nvPr/>
        </p:nvGraphicFramePr>
        <p:xfrm>
          <a:off x="6199632" y="4160520"/>
          <a:ext cx="5577840" cy="2331720"/>
        </p:xfrm>
        <a:graphic>
          <a:graphicData uri="http://schemas.openxmlformats.org/drawingml/2006/chart">
            <c:chart xmlns:c="http://schemas.openxmlformats.org/drawingml/2006/chart" r:id="rId5"/>
          </a:graphicData>
        </a:graphic>
      </p:graphicFrame>
      <p:sp>
        <p:nvSpPr>
          <p:cNvPr id="16" name="TextBox 15"/>
          <p:cNvSpPr txBox="1"/>
          <p:nvPr/>
        </p:nvSpPr>
        <p:spPr>
          <a:xfrm>
            <a:off x="411480" y="6528816"/>
            <a:ext cx="11338560" cy="228600"/>
          </a:xfrm>
          <a:prstGeom prst="rect">
            <a:avLst/>
          </a:prstGeom>
          <a:noFill/>
        </p:spPr>
        <p:txBody>
          <a:bodyPr wrap="square" lIns="18288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150"/>
              </a:spcAft>
            </a:pPr>
            <a:r>
              <a:rPr sz="700" b="0" i="0">
                <a:solidFill>
                  <a:srgbClr val="898781"/>
                </a:solidFill>
                <a:latin typeface="Microsoft YaHei"/>
                <a:ea typeface="Microsoft YaHei"/>
              </a:rPr>
              <a:t>数值来自 REPORT_WARM_PHL.md §1.1、§4.3（error_analysis.py）。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28600"/>
            <a:ext cx="11338560" cy="438912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pPr algn="l">
              <a:lnSpc>
                <a:spcPct val="105000"/>
              </a:lnSpc>
              <a:spcAft>
                <a:spcPts val="150"/>
              </a:spcAft>
            </a:pPr>
            <a:r>
              <a:rPr sz="2000" b="1" i="0">
                <a:solidFill>
                  <a:srgbClr val="0B0B0B"/>
                </a:solidFill>
                <a:latin typeface="Microsoft YaHei"/>
                <a:ea typeface="Microsoft YaHei"/>
              </a:rPr>
              <a:t>PHL: Provenance-Hypergraph Heuristic Learner — single-model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676656"/>
            <a:ext cx="11338560" cy="457200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pPr algn="l">
              <a:lnSpc>
                <a:spcPct val="105000"/>
              </a:lnSpc>
              <a:spcAft>
                <a:spcPts val="150"/>
              </a:spcAft>
            </a:pPr>
            <a:r>
              <a:rPr sz="1000" b="0" i="0">
                <a:solidFill>
                  <a:srgbClr val="52514E"/>
                </a:solidFill>
                <a:latin typeface="Microsoft YaHei"/>
                <a:ea typeface="Microsoft YaHei"/>
              </a:rPr>
              <a:t>Curated provenance hyperedges and miRNA side-information relations are stacked on the PLMF-MDA support graph; 128 deterministic heuristics feed one logistic-regression readout (~130 parameters). Single model, linear, leak-free.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1188720"/>
            <a:ext cx="2148840" cy="274320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150"/>
              </a:spcAft>
            </a:pPr>
            <a:r>
              <a:rPr sz="1000" b="1" i="0">
                <a:solidFill>
                  <a:srgbClr val="52514E"/>
                </a:solidFill>
                <a:latin typeface="Microsoft YaHei"/>
                <a:ea typeface="Microsoft YaHei"/>
              </a:rPr>
              <a:t>① Data sources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411480" y="1481328"/>
            <a:ext cx="2148840" cy="0"/>
          </a:xfrm>
          <a:prstGeom prst="line">
            <a:avLst/>
          </a:prstGeom>
          <a:ln w="9525">
            <a:solidFill>
              <a:srgbClr val="C3C2B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2971800" y="1188720"/>
            <a:ext cx="3246120" cy="274320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150"/>
              </a:spcAft>
            </a:pPr>
            <a:r>
              <a:rPr sz="1000" b="1" i="0">
                <a:solidFill>
                  <a:srgbClr val="52514E"/>
                </a:solidFill>
                <a:latin typeface="Microsoft YaHei"/>
                <a:ea typeface="Microsoft YaHei"/>
              </a:rPr>
              <a:t>② Multi-relational hypergraph (support only)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2971800" y="1481328"/>
            <a:ext cx="3246120" cy="0"/>
          </a:xfrm>
          <a:prstGeom prst="line">
            <a:avLst/>
          </a:prstGeom>
          <a:ln w="9525">
            <a:solidFill>
              <a:srgbClr val="C3C2B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6629400" y="1188720"/>
            <a:ext cx="2240280" cy="274320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150"/>
              </a:spcAft>
            </a:pPr>
            <a:r>
              <a:rPr sz="1000" b="1" i="0">
                <a:solidFill>
                  <a:srgbClr val="52514E"/>
                </a:solidFill>
                <a:latin typeface="Microsoft YaHei"/>
                <a:ea typeface="Microsoft YaHei"/>
              </a:rPr>
              <a:t>③ Heuristic features (128 cols)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629400" y="1481328"/>
            <a:ext cx="2240280" cy="0"/>
          </a:xfrm>
          <a:prstGeom prst="line">
            <a:avLst/>
          </a:prstGeom>
          <a:ln w="9525">
            <a:solidFill>
              <a:srgbClr val="C3C2B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9281160" y="1188720"/>
            <a:ext cx="2514600" cy="274320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150"/>
              </a:spcAft>
            </a:pPr>
            <a:r>
              <a:rPr sz="1000" b="1" i="0">
                <a:solidFill>
                  <a:srgbClr val="52514E"/>
                </a:solidFill>
                <a:latin typeface="Microsoft YaHei"/>
                <a:ea typeface="Microsoft YaHei"/>
              </a:rPr>
              <a:t>④ Linear readout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9281160" y="1481328"/>
            <a:ext cx="2514600" cy="0"/>
          </a:xfrm>
          <a:prstGeom prst="line">
            <a:avLst/>
          </a:prstGeom>
          <a:ln w="9525">
            <a:solidFill>
              <a:srgbClr val="C3C2B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411480" y="1536192"/>
            <a:ext cx="2148840" cy="1170432"/>
          </a:xfrm>
          <a:prstGeom prst="roundRect">
            <a:avLst>
              <a:gd name="adj" fmla="val 10000"/>
            </a:avLst>
          </a:prstGeom>
          <a:solidFill>
            <a:srgbClr val="DFEB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54864" bIns="54864"/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950" b="1" i="0">
                <a:solidFill>
                  <a:srgbClr val="0B0B0B"/>
                </a:solidFill>
                <a:latin typeface="Microsoft YaHei"/>
                <a:ea typeface="Microsoft YaHei"/>
              </a:rPr>
              <a:t>PLMF-MDA training positives</a:t>
            </a:r>
          </a:p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850" b="0" i="0">
                <a:solidFill>
                  <a:srgbClr val="52514E"/>
                </a:solidFill>
                <a:latin typeface="Microsoft YaHei"/>
                <a:ea typeface="Microsoft YaHei"/>
              </a:rPr>
              <a:t>miRNA–drug association matrix (MDR / MDS), training-fold positives only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971800" y="1536192"/>
            <a:ext cx="3246120" cy="1170432"/>
          </a:xfrm>
          <a:prstGeom prst="roundRect">
            <a:avLst>
              <a:gd name="adj" fmla="val 10000"/>
            </a:avLst>
          </a:prstGeom>
          <a:solidFill>
            <a:srgbClr val="FCFCFB"/>
          </a:solidFill>
          <a:ln w="12700">
            <a:solidFill>
              <a:srgbClr val="2A78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3081528" y="1645919"/>
            <a:ext cx="91440" cy="91440"/>
          </a:xfrm>
          <a:prstGeom prst="ellipse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209544" y="1572768"/>
            <a:ext cx="237744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150"/>
              </a:spcAft>
            </a:pPr>
            <a:r>
              <a:rPr sz="950" b="1" i="0">
                <a:solidFill>
                  <a:srgbClr val="0B0B0B"/>
                </a:solidFill>
                <a:latin typeface="Microsoft YaHei"/>
                <a:ea typeface="Microsoft YaHei"/>
              </a:rPr>
              <a:t>Support graph + kNN content graph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99232" y="1810512"/>
            <a:ext cx="64008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150"/>
              </a:spcAft>
            </a:pPr>
            <a:r>
              <a:rPr sz="750" b="0" i="0">
                <a:solidFill>
                  <a:srgbClr val="898781"/>
                </a:solidFill>
                <a:latin typeface="Microsoft YaHei"/>
                <a:ea typeface="Microsoft YaHei"/>
              </a:rPr>
              <a:t>miRNA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950208" y="1810512"/>
            <a:ext cx="64008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150"/>
              </a:spcAft>
            </a:pPr>
            <a:r>
              <a:rPr sz="750" b="0" i="0">
                <a:solidFill>
                  <a:srgbClr val="898781"/>
                </a:solidFill>
                <a:latin typeface="Microsoft YaHei"/>
                <a:ea typeface="Microsoft YaHei"/>
              </a:rPr>
              <a:t>drug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3378708" y="2048256"/>
            <a:ext cx="832104" cy="0"/>
          </a:xfrm>
          <a:prstGeom prst="line">
            <a:avLst/>
          </a:prstGeom>
          <a:ln w="15875">
            <a:solidFill>
              <a:srgbClr val="2A78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3378708" y="2048256"/>
            <a:ext cx="832104" cy="256032"/>
          </a:xfrm>
          <a:prstGeom prst="line">
            <a:avLst/>
          </a:prstGeom>
          <a:ln w="15875">
            <a:solidFill>
              <a:srgbClr val="2A78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3378708" y="2304288"/>
            <a:ext cx="832104" cy="0"/>
          </a:xfrm>
          <a:prstGeom prst="line">
            <a:avLst/>
          </a:prstGeom>
          <a:ln w="15875">
            <a:solidFill>
              <a:srgbClr val="2A78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3378708" y="2560320"/>
            <a:ext cx="832104" cy="0"/>
          </a:xfrm>
          <a:prstGeom prst="line">
            <a:avLst/>
          </a:prstGeom>
          <a:ln w="15875">
            <a:solidFill>
              <a:srgbClr val="2A78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3319272" y="2363724"/>
            <a:ext cx="0" cy="137160"/>
          </a:xfrm>
          <a:prstGeom prst="line">
            <a:avLst/>
          </a:prstGeom>
          <a:ln w="12700">
            <a:solidFill>
              <a:srgbClr val="52514E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4270248" y="2107692"/>
            <a:ext cx="0" cy="137160"/>
          </a:xfrm>
          <a:prstGeom prst="line">
            <a:avLst/>
          </a:prstGeom>
          <a:ln w="12700">
            <a:solidFill>
              <a:srgbClr val="52514E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Oval 23"/>
          <p:cNvSpPr/>
          <p:nvPr/>
        </p:nvSpPr>
        <p:spPr>
          <a:xfrm>
            <a:off x="3259836" y="1988820"/>
            <a:ext cx="118872" cy="118872"/>
          </a:xfrm>
          <a:prstGeom prst="ellipse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4210812" y="1988820"/>
            <a:ext cx="118872" cy="118872"/>
          </a:xfrm>
          <a:prstGeom prst="roundRect">
            <a:avLst>
              <a:gd name="adj" fmla="val 20000"/>
            </a:avLst>
          </a:prstGeom>
          <a:solidFill>
            <a:srgbClr val="FCFCFB"/>
          </a:solidFill>
          <a:ln w="9525">
            <a:solidFill>
              <a:srgbClr val="2A78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3259836" y="2244852"/>
            <a:ext cx="118872" cy="118872"/>
          </a:xfrm>
          <a:prstGeom prst="ellipse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4210812" y="2244852"/>
            <a:ext cx="118872" cy="118872"/>
          </a:xfrm>
          <a:prstGeom prst="roundRect">
            <a:avLst>
              <a:gd name="adj" fmla="val 20000"/>
            </a:avLst>
          </a:prstGeom>
          <a:solidFill>
            <a:srgbClr val="FCFCFB"/>
          </a:solidFill>
          <a:ln w="9525">
            <a:solidFill>
              <a:srgbClr val="2A78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3259836" y="2500884"/>
            <a:ext cx="118872" cy="118872"/>
          </a:xfrm>
          <a:prstGeom prst="ellipse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4210812" y="2500884"/>
            <a:ext cx="118872" cy="118872"/>
          </a:xfrm>
          <a:prstGeom prst="roundRect">
            <a:avLst>
              <a:gd name="adj" fmla="val 20000"/>
            </a:avLst>
          </a:prstGeom>
          <a:solidFill>
            <a:srgbClr val="FCFCFB"/>
          </a:solidFill>
          <a:ln w="9525">
            <a:solidFill>
              <a:srgbClr val="2A78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754880" y="1847088"/>
            <a:ext cx="1399031" cy="822960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750" b="0" i="0">
                <a:solidFill>
                  <a:srgbClr val="52514E"/>
                </a:solidFill>
                <a:latin typeface="Microsoft YaHei"/>
                <a:ea typeface="Microsoft YaHei"/>
              </a:rPr>
              <a:t>Bipartite support graph: training positives only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750" b="0" i="0">
                <a:solidFill>
                  <a:srgbClr val="52514E"/>
                </a:solidFill>
                <a:latin typeface="Microsoft YaHei"/>
                <a:ea typeface="Microsoft YaHei"/>
              </a:rPr>
              <a:t>kNN content graph: miRNA / drug similarity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750" b="0" i="0">
                <a:solidFill>
                  <a:srgbClr val="52514E"/>
                </a:solidFill>
                <a:latin typeface="Microsoft YaHei"/>
                <a:ea typeface="Microsoft YaHei"/>
              </a:rPr>
              <a:t>solid = support edge; dashed = kNN edge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629400" y="1536192"/>
            <a:ext cx="2240280" cy="1170432"/>
          </a:xfrm>
          <a:prstGeom prst="roundRect">
            <a:avLst>
              <a:gd name="adj" fmla="val 6000"/>
            </a:avLst>
          </a:prstGeom>
          <a:solidFill>
            <a:srgbClr val="FCFCFB"/>
          </a:solidFill>
          <a:ln w="9525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629400" y="1627632"/>
            <a:ext cx="64008" cy="987552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775704" y="1581912"/>
            <a:ext cx="2039112" cy="1078992"/>
          </a:xfrm>
          <a:prstGeom prst="rect">
            <a:avLst/>
          </a:prstGeom>
          <a:noFill/>
        </p:spPr>
        <p:txBody>
          <a:bodyPr wrap="square" lIns="0" tIns="18288" rIns="0" bIns="18288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950" b="1" i="0">
                <a:solidFill>
                  <a:srgbClr val="0B0B0B"/>
                </a:solidFill>
                <a:latin typeface="Microsoft YaHei"/>
                <a:ea typeface="Microsoft YaHei"/>
              </a:rPr>
              <a:t>ctx (33) + diff (52)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750" b="0" i="0">
                <a:solidFill>
                  <a:srgbClr val="52514E"/>
                </a:solidFill>
                <a:latin typeface="Microsoft YaHei"/>
                <a:ea typeface="Microsoft YaHei"/>
              </a:rPr>
              <a:t>degree, common neighbours, path3/5, SVD16, attribute support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750" b="0" i="0">
                <a:solidFill>
                  <a:srgbClr val="52514E"/>
                </a:solidFill>
                <a:latin typeface="Microsoft YaHei"/>
                <a:ea typeface="Microsoft YaHei"/>
              </a:rPr>
              <a:t>PPR / Katz / path7 with row / column normalisation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750" b="0" i="0">
                <a:solidFill>
                  <a:srgbClr val="52514E"/>
                </a:solidFill>
                <a:latin typeface="Microsoft YaHei"/>
                <a:ea typeface="Microsoft YaHei"/>
              </a:rPr>
              <a:t>(original iNcRD-HG feature bank)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2560320" y="2121408"/>
            <a:ext cx="411480" cy="0"/>
          </a:xfrm>
          <a:prstGeom prst="line">
            <a:avLst/>
          </a:prstGeom>
          <a:ln w="12700">
            <a:solidFill>
              <a:srgbClr val="52514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6217920" y="2121408"/>
            <a:ext cx="411480" cy="0"/>
          </a:xfrm>
          <a:prstGeom prst="line">
            <a:avLst/>
          </a:prstGeom>
          <a:ln w="12700">
            <a:solidFill>
              <a:srgbClr val="52514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8869680" y="2121408"/>
            <a:ext cx="411480" cy="1325880"/>
          </a:xfrm>
          <a:prstGeom prst="bentConnector3">
            <a:avLst/>
          </a:prstGeom>
          <a:ln w="12700">
            <a:solidFill>
              <a:srgbClr val="52514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Rounded Rectangle 36"/>
          <p:cNvSpPr/>
          <p:nvPr/>
        </p:nvSpPr>
        <p:spPr>
          <a:xfrm>
            <a:off x="411480" y="2862072"/>
            <a:ext cx="2148840" cy="1170432"/>
          </a:xfrm>
          <a:prstGeom prst="roundRect">
            <a:avLst>
              <a:gd name="adj" fmla="val 10000"/>
            </a:avLst>
          </a:prstGeom>
          <a:solidFill>
            <a:srgbClr val="FCE8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54864" bIns="54864"/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950" b="1" i="0">
                <a:solidFill>
                  <a:srgbClr val="0B0B0B"/>
                </a:solidFill>
                <a:latin typeface="Microsoft YaHei"/>
                <a:ea typeface="Microsoft YaHei"/>
              </a:rPr>
              <a:t>iNcRD-HG provenance records</a:t>
            </a:r>
          </a:p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850" b="0" i="0">
                <a:solidFill>
                  <a:srgbClr val="52514E"/>
                </a:solidFill>
                <a:latin typeface="Microsoft YaHei"/>
                <a:ea typeface="Microsoft YaHei"/>
              </a:rPr>
              <a:t>PMID of every association plus the cell-line / phenotype / disease context it was reported in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2971800" y="2862072"/>
            <a:ext cx="3246120" cy="1170432"/>
          </a:xfrm>
          <a:prstGeom prst="roundRect">
            <a:avLst>
              <a:gd name="adj" fmla="val 10000"/>
            </a:avLst>
          </a:prstGeom>
          <a:solidFill>
            <a:srgbClr val="FCFCFB"/>
          </a:solidFill>
          <a:ln w="12700">
            <a:solidFill>
              <a:srgbClr val="EB68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3081528" y="2971800"/>
            <a:ext cx="91440" cy="91440"/>
          </a:xfrm>
          <a:prstGeom prst="ellipse">
            <a:avLst/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209544" y="2898648"/>
            <a:ext cx="237744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150"/>
              </a:spcAft>
            </a:pPr>
            <a:r>
              <a:rPr sz="950" b="1" i="0">
                <a:solidFill>
                  <a:srgbClr val="0B0B0B"/>
                </a:solidFill>
                <a:latin typeface="Microsoft YaHei"/>
                <a:ea typeface="Microsoft YaHei"/>
              </a:rPr>
              <a:t>Provenance hypergraph</a:t>
            </a:r>
          </a:p>
        </p:txBody>
      </p:sp>
      <p:sp>
        <p:nvSpPr>
          <p:cNvPr id="41" name="Oval 40"/>
          <p:cNvSpPr/>
          <p:nvPr/>
        </p:nvSpPr>
        <p:spPr>
          <a:xfrm>
            <a:off x="3081528" y="3191256"/>
            <a:ext cx="1627632" cy="786384"/>
          </a:xfrm>
          <a:prstGeom prst="ellipse">
            <a:avLst/>
          </a:prstGeom>
          <a:solidFill>
            <a:srgbClr val="EB6834">
              <a:alpha val="1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081528" y="3209544"/>
            <a:ext cx="1627632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150"/>
              </a:spcAft>
            </a:pPr>
            <a:r>
              <a:rPr sz="750" b="0" i="0">
                <a:solidFill>
                  <a:srgbClr val="52514E"/>
                </a:solidFill>
                <a:latin typeface="Microsoft YaHei"/>
                <a:ea typeface="Microsoft YaHei"/>
              </a:rPr>
              <a:t>PMID study hyperedge</a:t>
            </a:r>
          </a:p>
        </p:txBody>
      </p:sp>
      <p:cxnSp>
        <p:nvCxnSpPr>
          <p:cNvPr id="43" name="Connector 42"/>
          <p:cNvCxnSpPr/>
          <p:nvPr/>
        </p:nvCxnSpPr>
        <p:spPr>
          <a:xfrm>
            <a:off x="3488436" y="3465576"/>
            <a:ext cx="813815" cy="0"/>
          </a:xfrm>
          <a:prstGeom prst="line">
            <a:avLst/>
          </a:prstGeom>
          <a:ln w="15875">
            <a:solidFill>
              <a:srgbClr val="52514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3488436" y="3813048"/>
            <a:ext cx="813815" cy="0"/>
          </a:xfrm>
          <a:prstGeom prst="line">
            <a:avLst/>
          </a:prstGeom>
          <a:ln w="15875">
            <a:solidFill>
              <a:srgbClr val="52514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3488436" y="3483864"/>
            <a:ext cx="813815" cy="310896"/>
          </a:xfrm>
          <a:prstGeom prst="line">
            <a:avLst/>
          </a:prstGeom>
          <a:ln w="19050">
            <a:solidFill>
              <a:srgbClr val="EB6834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TextBox 45"/>
          <p:cNvSpPr txBox="1"/>
          <p:nvPr/>
        </p:nvSpPr>
        <p:spPr>
          <a:xfrm>
            <a:off x="3337560" y="3657600"/>
            <a:ext cx="566928" cy="11887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r">
              <a:lnSpc>
                <a:spcPct val="105000"/>
              </a:lnSpc>
              <a:spcAft>
                <a:spcPts val="150"/>
              </a:spcAft>
            </a:pPr>
            <a:r>
              <a:rPr sz="650" b="0" i="0">
                <a:solidFill>
                  <a:srgbClr val="52514E"/>
                </a:solidFill>
                <a:latin typeface="Microsoft YaHei"/>
                <a:ea typeface="Microsoft YaHei"/>
              </a:rPr>
              <a:t>bridge m₁–d₂</a:t>
            </a:r>
          </a:p>
        </p:txBody>
      </p:sp>
      <p:sp>
        <p:nvSpPr>
          <p:cNvPr id="47" name="Oval 46"/>
          <p:cNvSpPr/>
          <p:nvPr/>
        </p:nvSpPr>
        <p:spPr>
          <a:xfrm>
            <a:off x="3369564" y="3406140"/>
            <a:ext cx="118872" cy="118872"/>
          </a:xfrm>
          <a:prstGeom prst="ellipse">
            <a:avLst/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3369564" y="3753611"/>
            <a:ext cx="118872" cy="118872"/>
          </a:xfrm>
          <a:prstGeom prst="ellipse">
            <a:avLst/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ounded Rectangle 48"/>
          <p:cNvSpPr/>
          <p:nvPr/>
        </p:nvSpPr>
        <p:spPr>
          <a:xfrm>
            <a:off x="4302251" y="3406140"/>
            <a:ext cx="118872" cy="118872"/>
          </a:xfrm>
          <a:prstGeom prst="roundRect">
            <a:avLst>
              <a:gd name="adj" fmla="val 20000"/>
            </a:avLst>
          </a:prstGeom>
          <a:solidFill>
            <a:srgbClr val="FCFCFB"/>
          </a:solidFill>
          <a:ln w="9525">
            <a:solidFill>
              <a:srgbClr val="EB68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ounded Rectangle 49"/>
          <p:cNvSpPr/>
          <p:nvPr/>
        </p:nvSpPr>
        <p:spPr>
          <a:xfrm>
            <a:off x="4302251" y="3753611"/>
            <a:ext cx="118872" cy="118872"/>
          </a:xfrm>
          <a:prstGeom prst="roundRect">
            <a:avLst>
              <a:gd name="adj" fmla="val 20000"/>
            </a:avLst>
          </a:prstGeom>
          <a:solidFill>
            <a:srgbClr val="FCFCFB"/>
          </a:solidFill>
          <a:ln w="9525">
            <a:solidFill>
              <a:srgbClr val="EB68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3063240" y="3383280"/>
            <a:ext cx="27432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5000"/>
              </a:lnSpc>
              <a:spcAft>
                <a:spcPts val="150"/>
              </a:spcAft>
            </a:pPr>
            <a:r>
              <a:rPr sz="700" b="0" i="0">
                <a:solidFill>
                  <a:srgbClr val="52514E"/>
                </a:solidFill>
                <a:latin typeface="Microsoft YaHei"/>
                <a:ea typeface="Microsoft YaHei"/>
              </a:rPr>
              <a:t>m₁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3063240" y="3730752"/>
            <a:ext cx="27432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5000"/>
              </a:lnSpc>
              <a:spcAft>
                <a:spcPts val="150"/>
              </a:spcAft>
            </a:pPr>
            <a:r>
              <a:rPr sz="700" b="0" i="0">
                <a:solidFill>
                  <a:srgbClr val="52514E"/>
                </a:solidFill>
                <a:latin typeface="Microsoft YaHei"/>
                <a:ea typeface="Microsoft YaHei"/>
              </a:rPr>
              <a:t>m₂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453127" y="3383280"/>
            <a:ext cx="27432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150"/>
              </a:spcAft>
            </a:pPr>
            <a:r>
              <a:rPr sz="700" b="0" i="0">
                <a:solidFill>
                  <a:srgbClr val="52514E"/>
                </a:solidFill>
                <a:latin typeface="Microsoft YaHei"/>
                <a:ea typeface="Microsoft YaHei"/>
              </a:rPr>
              <a:t>d₁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453127" y="3730752"/>
            <a:ext cx="27432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150"/>
              </a:spcAft>
            </a:pPr>
            <a:r>
              <a:rPr sz="700" b="0" i="0">
                <a:solidFill>
                  <a:srgbClr val="52514E"/>
                </a:solidFill>
                <a:latin typeface="Microsoft YaHei"/>
                <a:ea typeface="Microsoft YaHei"/>
              </a:rPr>
              <a:t>d₂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754880" y="3172968"/>
            <a:ext cx="1399031" cy="822960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750" b="0" i="0">
                <a:solidFill>
                  <a:srgbClr val="52514E"/>
                </a:solidFill>
                <a:latin typeface="Microsoft YaHei"/>
                <a:ea typeface="Microsoft YaHei"/>
              </a:rPr>
              <a:t>Study hyperedge: all (m, d) reported by one PMID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750" b="0" i="0">
                <a:solidFill>
                  <a:srgbClr val="52514E"/>
                </a:solidFill>
                <a:latin typeface="Microsoft YaHei"/>
                <a:ea typeface="Microsoft YaHei"/>
              </a:rPr>
              <a:t>Context hyperedge: cell-line / phenotype / disease tokens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750" b="0" i="0">
                <a:solidFill>
                  <a:srgbClr val="52514E"/>
                </a:solidFill>
                <a:latin typeface="Microsoft YaHei"/>
                <a:ea typeface="Microsoft YaHei"/>
              </a:rPr>
              <a:t>Co-study graph S = M·Mᵀ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6629400" y="2862072"/>
            <a:ext cx="2240280" cy="1170432"/>
          </a:xfrm>
          <a:prstGeom prst="roundRect">
            <a:avLst>
              <a:gd name="adj" fmla="val 6000"/>
            </a:avLst>
          </a:prstGeom>
          <a:solidFill>
            <a:srgbClr val="FCFCFB"/>
          </a:solidFill>
          <a:ln w="9525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6629400" y="2953512"/>
            <a:ext cx="64008" cy="987552"/>
          </a:xfrm>
          <a:prstGeom prst="rect">
            <a:avLst/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6775704" y="2907791"/>
            <a:ext cx="2039112" cy="1078992"/>
          </a:xfrm>
          <a:prstGeom prst="rect">
            <a:avLst/>
          </a:prstGeom>
          <a:noFill/>
        </p:spPr>
        <p:txBody>
          <a:bodyPr wrap="square" lIns="0" tIns="18288" rIns="0" bIns="18288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950" b="1" i="0">
                <a:solidFill>
                  <a:srgbClr val="0B0B0B"/>
                </a:solidFill>
                <a:latin typeface="Microsoft YaHei"/>
                <a:ea typeface="Microsoft YaHei"/>
              </a:rPr>
              <a:t>prov (24)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750" b="0" i="0">
                <a:solidFill>
                  <a:srgbClr val="52514E"/>
                </a:solidFill>
                <a:latin typeface="Microsoft YaHei"/>
                <a:ea typeface="Microsoft YaHei"/>
              </a:rPr>
              <a:t>PMID bridging |P_m ∩ P_d|, size-weighted, Jaccard (6)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750" b="0" i="0">
                <a:solidFill>
                  <a:srgbClr val="52514E"/>
                </a:solidFill>
                <a:latin typeface="Microsoft YaHei"/>
                <a:ea typeface="Microsoft YaHei"/>
              </a:rPr>
              <a:t>co-study transfer (S_r A), (A S_d) (6)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750" b="0" i="0">
                <a:solidFill>
                  <a:srgbClr val="52514E"/>
                </a:solidFill>
                <a:latin typeface="Microsoft YaHei"/>
                <a:ea typeface="Microsoft YaHei"/>
              </a:rPr>
              <a:t>context-token overlap (4) · record statistics (8)</a:t>
            </a:r>
          </a:p>
        </p:txBody>
      </p:sp>
      <p:cxnSp>
        <p:nvCxnSpPr>
          <p:cNvPr id="59" name="Connector 58"/>
          <p:cNvCxnSpPr/>
          <p:nvPr/>
        </p:nvCxnSpPr>
        <p:spPr>
          <a:xfrm>
            <a:off x="2560320" y="3447288"/>
            <a:ext cx="411480" cy="0"/>
          </a:xfrm>
          <a:prstGeom prst="line">
            <a:avLst/>
          </a:prstGeom>
          <a:ln w="12700">
            <a:solidFill>
              <a:srgbClr val="52514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>
            <a:off x="6217920" y="3447288"/>
            <a:ext cx="411480" cy="0"/>
          </a:xfrm>
          <a:prstGeom prst="line">
            <a:avLst/>
          </a:prstGeom>
          <a:ln w="12700">
            <a:solidFill>
              <a:srgbClr val="52514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>
            <a:off x="8869680" y="3447288"/>
            <a:ext cx="411480" cy="0"/>
          </a:xfrm>
          <a:prstGeom prst="line">
            <a:avLst/>
          </a:prstGeom>
          <a:ln w="12700">
            <a:solidFill>
              <a:srgbClr val="52514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2" name="Rounded Rectangle 61"/>
          <p:cNvSpPr/>
          <p:nvPr/>
        </p:nvSpPr>
        <p:spPr>
          <a:xfrm>
            <a:off x="411480" y="4187952"/>
            <a:ext cx="2148840" cy="1170432"/>
          </a:xfrm>
          <a:prstGeom prst="roundRect">
            <a:avLst>
              <a:gd name="adj" fmla="val 10000"/>
            </a:avLst>
          </a:prstGeom>
          <a:solidFill>
            <a:srgbClr val="DDF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54864" bIns="54864"/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950" b="1" i="0">
                <a:solidFill>
                  <a:srgbClr val="0B0B0B"/>
                </a:solidFill>
                <a:latin typeface="Microsoft YaHei"/>
                <a:ea typeface="Microsoft YaHei"/>
              </a:rPr>
              <a:t>External miRNA knowledge (label-free)</a:t>
            </a:r>
          </a:p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850" b="0" i="0">
                <a:solidFill>
                  <a:srgbClr val="52514E"/>
                </a:solidFill>
                <a:latin typeface="Microsoft YaHei"/>
                <a:ea typeface="Microsoft YaHei"/>
              </a:rPr>
              <a:t>HMDD v4 disease spectrum · name / seed family · degree in the other phenotype matrix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2971800" y="4187952"/>
            <a:ext cx="3246120" cy="1170432"/>
          </a:xfrm>
          <a:prstGeom prst="roundRect">
            <a:avLst>
              <a:gd name="adj" fmla="val 10000"/>
            </a:avLst>
          </a:prstGeom>
          <a:solidFill>
            <a:srgbClr val="FCFCFB"/>
          </a:solidFill>
          <a:ln w="12700">
            <a:solidFill>
              <a:srgbClr val="1BAF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Oval 63"/>
          <p:cNvSpPr/>
          <p:nvPr/>
        </p:nvSpPr>
        <p:spPr>
          <a:xfrm>
            <a:off x="3081528" y="4297680"/>
            <a:ext cx="91440" cy="91440"/>
          </a:xfrm>
          <a:prstGeom prst="ellipse">
            <a:avLst/>
          </a:prstGeom>
          <a:solidFill>
            <a:srgbClr val="1BAF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3209544" y="4224528"/>
            <a:ext cx="237744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150"/>
              </a:spcAft>
            </a:pPr>
            <a:r>
              <a:rPr sz="950" b="1" i="0">
                <a:solidFill>
                  <a:srgbClr val="0B0B0B"/>
                </a:solidFill>
                <a:latin typeface="Microsoft YaHei"/>
                <a:ea typeface="Microsoft YaHei"/>
              </a:rPr>
              <a:t>miRNA side-information relations</a:t>
            </a:r>
          </a:p>
        </p:txBody>
      </p:sp>
      <p:cxnSp>
        <p:nvCxnSpPr>
          <p:cNvPr id="66" name="Connector 65"/>
          <p:cNvCxnSpPr/>
          <p:nvPr/>
        </p:nvCxnSpPr>
        <p:spPr>
          <a:xfrm flipV="1">
            <a:off x="3342132" y="4663440"/>
            <a:ext cx="288036" cy="256032"/>
          </a:xfrm>
          <a:prstGeom prst="line">
            <a:avLst/>
          </a:prstGeom>
          <a:ln w="15875">
            <a:solidFill>
              <a:srgbClr val="1BAF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7" name="Rounded Rectangle 66"/>
          <p:cNvSpPr/>
          <p:nvPr/>
        </p:nvSpPr>
        <p:spPr>
          <a:xfrm>
            <a:off x="3630168" y="4562856"/>
            <a:ext cx="1060704" cy="201168"/>
          </a:xfrm>
          <a:prstGeom prst="roundRect">
            <a:avLst>
              <a:gd name="adj" fmla="val 10000"/>
            </a:avLst>
          </a:prstGeom>
          <a:solidFill>
            <a:srgbClr val="DDF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tIns="0" rIns="18288" bIns="0"/>
          <a:lstStyle/>
          <a:p>
            <a:pPr algn="ctr">
              <a:lnSpc>
                <a:spcPct val="105000"/>
              </a:lnSpc>
              <a:spcAft>
                <a:spcPts val="150"/>
              </a:spcAft>
            </a:pPr>
            <a:r>
              <a:rPr sz="700" b="0" i="0">
                <a:solidFill>
                  <a:srgbClr val="0B0B0B"/>
                </a:solidFill>
                <a:latin typeface="Microsoft YaHei"/>
                <a:ea typeface="Microsoft YaHei"/>
              </a:rPr>
              <a:t>name / seed family</a:t>
            </a:r>
          </a:p>
        </p:txBody>
      </p:sp>
      <p:cxnSp>
        <p:nvCxnSpPr>
          <p:cNvPr id="68" name="Connector 67"/>
          <p:cNvCxnSpPr/>
          <p:nvPr/>
        </p:nvCxnSpPr>
        <p:spPr>
          <a:xfrm>
            <a:off x="3342132" y="4919472"/>
            <a:ext cx="288036" cy="0"/>
          </a:xfrm>
          <a:prstGeom prst="line">
            <a:avLst/>
          </a:prstGeom>
          <a:ln w="15875">
            <a:solidFill>
              <a:srgbClr val="1BAF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9" name="Rounded Rectangle 68"/>
          <p:cNvSpPr/>
          <p:nvPr/>
        </p:nvSpPr>
        <p:spPr>
          <a:xfrm>
            <a:off x="3630168" y="4818888"/>
            <a:ext cx="1060704" cy="201168"/>
          </a:xfrm>
          <a:prstGeom prst="roundRect">
            <a:avLst>
              <a:gd name="adj" fmla="val 10000"/>
            </a:avLst>
          </a:prstGeom>
          <a:solidFill>
            <a:srgbClr val="DDF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tIns="0" rIns="18288" bIns="0"/>
          <a:lstStyle/>
          <a:p>
            <a:pPr algn="ctr">
              <a:lnSpc>
                <a:spcPct val="105000"/>
              </a:lnSpc>
              <a:spcAft>
                <a:spcPts val="150"/>
              </a:spcAft>
            </a:pPr>
            <a:r>
              <a:rPr sz="700" b="0" i="0">
                <a:solidFill>
                  <a:srgbClr val="0B0B0B"/>
                </a:solidFill>
                <a:latin typeface="Microsoft YaHei"/>
                <a:ea typeface="Microsoft YaHei"/>
              </a:rPr>
              <a:t>HMDD diseases</a:t>
            </a:r>
          </a:p>
        </p:txBody>
      </p:sp>
      <p:cxnSp>
        <p:nvCxnSpPr>
          <p:cNvPr id="70" name="Connector 69"/>
          <p:cNvCxnSpPr/>
          <p:nvPr/>
        </p:nvCxnSpPr>
        <p:spPr>
          <a:xfrm>
            <a:off x="3342132" y="4919472"/>
            <a:ext cx="288036" cy="256032"/>
          </a:xfrm>
          <a:prstGeom prst="line">
            <a:avLst/>
          </a:prstGeom>
          <a:ln w="15875">
            <a:solidFill>
              <a:srgbClr val="1BAF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1" name="Rounded Rectangle 70"/>
          <p:cNvSpPr/>
          <p:nvPr/>
        </p:nvSpPr>
        <p:spPr>
          <a:xfrm>
            <a:off x="3630168" y="5074920"/>
            <a:ext cx="1060704" cy="201168"/>
          </a:xfrm>
          <a:prstGeom prst="roundRect">
            <a:avLst>
              <a:gd name="adj" fmla="val 10000"/>
            </a:avLst>
          </a:prstGeom>
          <a:solidFill>
            <a:srgbClr val="DDF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tIns="0" rIns="18288" bIns="0"/>
          <a:lstStyle/>
          <a:p>
            <a:pPr algn="ctr">
              <a:lnSpc>
                <a:spcPct val="105000"/>
              </a:lnSpc>
              <a:spcAft>
                <a:spcPts val="150"/>
              </a:spcAft>
            </a:pPr>
            <a:r>
              <a:rPr sz="700" b="0" i="0">
                <a:solidFill>
                  <a:srgbClr val="0B0B0B"/>
                </a:solidFill>
                <a:latin typeface="Microsoft YaHei"/>
                <a:ea typeface="Microsoft YaHei"/>
              </a:rPr>
              <a:t>other-phenotype degree</a:t>
            </a:r>
          </a:p>
        </p:txBody>
      </p:sp>
      <p:sp>
        <p:nvSpPr>
          <p:cNvPr id="72" name="Oval 71"/>
          <p:cNvSpPr/>
          <p:nvPr/>
        </p:nvSpPr>
        <p:spPr>
          <a:xfrm>
            <a:off x="3186684" y="4841748"/>
            <a:ext cx="155448" cy="155448"/>
          </a:xfrm>
          <a:prstGeom prst="ellipse">
            <a:avLst/>
          </a:prstGeom>
          <a:solidFill>
            <a:srgbClr val="1BAF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2898648" y="5006340"/>
            <a:ext cx="73152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150"/>
              </a:spcAft>
            </a:pPr>
            <a:r>
              <a:rPr sz="750" b="0" i="0">
                <a:solidFill>
                  <a:srgbClr val="898781"/>
                </a:solidFill>
                <a:latin typeface="Microsoft YaHei"/>
                <a:ea typeface="Microsoft YaHei"/>
              </a:rPr>
              <a:t>miRNA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4754880" y="4498848"/>
            <a:ext cx="1399031" cy="822960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750" b="0" i="0">
                <a:solidFill>
                  <a:srgbClr val="52514E"/>
                </a:solidFill>
                <a:latin typeface="Microsoft YaHei"/>
                <a:ea typeface="Microsoft YaHei"/>
              </a:rPr>
              <a:t>miRNA → family / disease / cross-phenotype degree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750" b="0" i="0">
                <a:solidFill>
                  <a:srgbClr val="52514E"/>
                </a:solidFill>
                <a:latin typeface="Microsoft YaHei"/>
                <a:ea typeface="Microsoft YaHei"/>
              </a:rPr>
              <a:t>label-free; adds information for zero- and low-degree miRNAs</a:t>
            </a:r>
          </a:p>
        </p:txBody>
      </p:sp>
      <p:sp>
        <p:nvSpPr>
          <p:cNvPr id="75" name="Rounded Rectangle 74"/>
          <p:cNvSpPr/>
          <p:nvPr/>
        </p:nvSpPr>
        <p:spPr>
          <a:xfrm>
            <a:off x="6629400" y="4187952"/>
            <a:ext cx="2240280" cy="1170432"/>
          </a:xfrm>
          <a:prstGeom prst="roundRect">
            <a:avLst>
              <a:gd name="adj" fmla="val 6000"/>
            </a:avLst>
          </a:prstGeom>
          <a:solidFill>
            <a:srgbClr val="FCFCFB"/>
          </a:solidFill>
          <a:ln w="9525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6629400" y="4279392"/>
            <a:ext cx="64008" cy="987552"/>
          </a:xfrm>
          <a:prstGeom prst="rect">
            <a:avLst/>
          </a:prstGeom>
          <a:solidFill>
            <a:srgbClr val="1BAF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6775704" y="4233672"/>
            <a:ext cx="2039112" cy="1078992"/>
          </a:xfrm>
          <a:prstGeom prst="rect">
            <a:avLst/>
          </a:prstGeom>
          <a:noFill/>
        </p:spPr>
        <p:txBody>
          <a:bodyPr wrap="square" lIns="0" tIns="18288" rIns="0" bIns="18288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950" b="1" i="0">
                <a:solidFill>
                  <a:srgbClr val="0B0B0B"/>
                </a:solidFill>
                <a:latin typeface="Microsoft YaHei"/>
                <a:ea typeface="Microsoft YaHei"/>
              </a:rPr>
              <a:t>mprior (19)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750" b="0" i="0">
                <a:solidFill>
                  <a:srgbClr val="52514E"/>
                </a:solidFill>
                <a:latin typeface="Microsoft YaHei"/>
                <a:ea typeface="Microsoft YaHei"/>
              </a:rPr>
              <a:t>name family (5) · seed 7-mer family (5)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750" b="0" i="0">
                <a:solidFill>
                  <a:srgbClr val="52514E"/>
                </a:solidFill>
                <a:latin typeface="Microsoft YaHei"/>
                <a:ea typeface="Microsoft YaHei"/>
              </a:rPr>
              <a:t>HMDD disease bridge Σ H[m,dz]·(HᵀA)[dz,d] (7)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750" b="0" i="0">
                <a:solidFill>
                  <a:srgbClr val="52514E"/>
                </a:solidFill>
                <a:latin typeface="Microsoft YaHei"/>
                <a:ea typeface="Microsoft YaHei"/>
              </a:rPr>
              <a:t>degree in the other phenotype, xdeg (2)</a:t>
            </a:r>
          </a:p>
        </p:txBody>
      </p:sp>
      <p:cxnSp>
        <p:nvCxnSpPr>
          <p:cNvPr id="78" name="Connector 77"/>
          <p:cNvCxnSpPr/>
          <p:nvPr/>
        </p:nvCxnSpPr>
        <p:spPr>
          <a:xfrm>
            <a:off x="2560320" y="4773168"/>
            <a:ext cx="411480" cy="0"/>
          </a:xfrm>
          <a:prstGeom prst="line">
            <a:avLst/>
          </a:prstGeom>
          <a:ln w="12700">
            <a:solidFill>
              <a:srgbClr val="52514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Connector 78"/>
          <p:cNvCxnSpPr/>
          <p:nvPr/>
        </p:nvCxnSpPr>
        <p:spPr>
          <a:xfrm>
            <a:off x="6217920" y="4773168"/>
            <a:ext cx="411480" cy="0"/>
          </a:xfrm>
          <a:prstGeom prst="line">
            <a:avLst/>
          </a:prstGeom>
          <a:ln w="12700">
            <a:solidFill>
              <a:srgbClr val="52514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Connector 79"/>
          <p:cNvCxnSpPr/>
          <p:nvPr/>
        </p:nvCxnSpPr>
        <p:spPr>
          <a:xfrm flipV="1">
            <a:off x="8869680" y="3447288"/>
            <a:ext cx="411480" cy="1325880"/>
          </a:xfrm>
          <a:prstGeom prst="bentConnector3">
            <a:avLst/>
          </a:prstGeom>
          <a:ln w="12700">
            <a:solidFill>
              <a:srgbClr val="52514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1" name="Rounded Rectangle 80"/>
          <p:cNvSpPr/>
          <p:nvPr/>
        </p:nvSpPr>
        <p:spPr>
          <a:xfrm>
            <a:off x="9281160" y="1536192"/>
            <a:ext cx="2514600" cy="1170432"/>
          </a:xfrm>
          <a:prstGeom prst="roundRect">
            <a:avLst>
              <a:gd name="adj" fmla="val 6000"/>
            </a:avLst>
          </a:prstGeom>
          <a:solidFill>
            <a:srgbClr val="F4F3EF"/>
          </a:solidFill>
          <a:ln w="9525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950" b="1" i="0">
                <a:solidFill>
                  <a:srgbClr val="0B0B0B"/>
                </a:solidFill>
                <a:latin typeface="Microsoft YaHei"/>
                <a:ea typeface="Microsoft YaHei"/>
              </a:rPr>
              <a:t>Leak-free cross-fitting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750" b="0" i="0">
                <a:solidFill>
                  <a:srgbClr val="52514E"/>
                </a:solidFill>
                <a:latin typeface="Microsoft YaHei"/>
                <a:ea typeface="Microsoft YaHei"/>
              </a:rPr>
              <a:t>Training rows: K=10 inner folds; a query pair never enters its own support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750" b="0" i="0">
                <a:solidFill>
                  <a:srgbClr val="52514E"/>
                </a:solidFill>
                <a:latin typeface="Microsoft YaHei"/>
                <a:ea typeface="Microsoft YaHei"/>
              </a:rPr>
              <a:t>Test rows: all training positives as support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750" b="0" i="0">
                <a:solidFill>
                  <a:srgbClr val="52514E"/>
                </a:solidFill>
                <a:latin typeface="Microsoft YaHei"/>
                <a:ea typeface="Microsoft YaHei"/>
              </a:rPr>
              <a:t>Every heuristic reads support positives only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9281160" y="3072384"/>
            <a:ext cx="2514600" cy="201168"/>
          </a:xfrm>
          <a:prstGeom prst="rect">
            <a:avLst/>
          </a:prstGeom>
          <a:noFill/>
        </p:spPr>
        <p:txBody>
          <a:bodyPr wrap="square" lIns="18288" tIns="0" rIns="0" bIns="0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150"/>
              </a:spcAft>
            </a:pPr>
            <a:r>
              <a:rPr sz="800" b="0" i="0">
                <a:solidFill>
                  <a:srgbClr val="898781"/>
                </a:solidFill>
                <a:latin typeface="Microsoft YaHei"/>
                <a:ea typeface="Microsoft YaHei"/>
              </a:rPr>
              <a:t>Concatenate 128 columns</a:t>
            </a:r>
          </a:p>
        </p:txBody>
      </p:sp>
      <p:sp>
        <p:nvSpPr>
          <p:cNvPr id="83" name="Rectangle 82"/>
          <p:cNvSpPr/>
          <p:nvPr/>
        </p:nvSpPr>
        <p:spPr>
          <a:xfrm>
            <a:off x="9281160" y="3291840"/>
            <a:ext cx="1633418" cy="310896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10942010" y="3291840"/>
            <a:ext cx="461200" cy="310896"/>
          </a:xfrm>
          <a:prstGeom prst="rect">
            <a:avLst/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11430642" y="3291840"/>
            <a:ext cx="365117" cy="310896"/>
          </a:xfrm>
          <a:prstGeom prst="rect">
            <a:avLst/>
          </a:prstGeom>
          <a:solidFill>
            <a:srgbClr val="1BAF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Oval 85"/>
          <p:cNvSpPr/>
          <p:nvPr/>
        </p:nvSpPr>
        <p:spPr>
          <a:xfrm>
            <a:off x="9308592" y="3685032"/>
            <a:ext cx="73152" cy="73152"/>
          </a:xfrm>
          <a:prstGeom prst="ellipse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9409176" y="3639312"/>
            <a:ext cx="73152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150"/>
              </a:spcAft>
            </a:pPr>
            <a:r>
              <a:rPr sz="750" b="0" i="0">
                <a:solidFill>
                  <a:srgbClr val="52514E"/>
                </a:solidFill>
                <a:latin typeface="Microsoft YaHei"/>
                <a:ea typeface="Microsoft YaHei"/>
              </a:rPr>
              <a:t>ctx+diff 85</a:t>
            </a:r>
          </a:p>
        </p:txBody>
      </p:sp>
      <p:sp>
        <p:nvSpPr>
          <p:cNvPr id="88" name="Oval 87"/>
          <p:cNvSpPr/>
          <p:nvPr/>
        </p:nvSpPr>
        <p:spPr>
          <a:xfrm>
            <a:off x="10158984" y="3685032"/>
            <a:ext cx="73152" cy="73152"/>
          </a:xfrm>
          <a:prstGeom prst="ellipse">
            <a:avLst/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10259567" y="3639312"/>
            <a:ext cx="73152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150"/>
              </a:spcAft>
            </a:pPr>
            <a:r>
              <a:rPr sz="750" b="0" i="0">
                <a:solidFill>
                  <a:srgbClr val="52514E"/>
                </a:solidFill>
                <a:latin typeface="Microsoft YaHei"/>
                <a:ea typeface="Microsoft YaHei"/>
              </a:rPr>
              <a:t>prov 24</a:t>
            </a:r>
          </a:p>
        </p:txBody>
      </p:sp>
      <p:sp>
        <p:nvSpPr>
          <p:cNvPr id="90" name="Oval 89"/>
          <p:cNvSpPr/>
          <p:nvPr/>
        </p:nvSpPr>
        <p:spPr>
          <a:xfrm>
            <a:off x="11009376" y="3685032"/>
            <a:ext cx="73152" cy="73152"/>
          </a:xfrm>
          <a:prstGeom prst="ellipse">
            <a:avLst/>
          </a:prstGeom>
          <a:solidFill>
            <a:srgbClr val="1BAF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11109959" y="3639312"/>
            <a:ext cx="73152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150"/>
              </a:spcAft>
            </a:pPr>
            <a:r>
              <a:rPr sz="750" b="0" i="0">
                <a:solidFill>
                  <a:srgbClr val="52514E"/>
                </a:solidFill>
                <a:latin typeface="Microsoft YaHei"/>
                <a:ea typeface="Microsoft YaHei"/>
              </a:rPr>
              <a:t>mprior 19</a:t>
            </a:r>
          </a:p>
        </p:txBody>
      </p:sp>
      <p:cxnSp>
        <p:nvCxnSpPr>
          <p:cNvPr id="92" name="Connector 91"/>
          <p:cNvCxnSpPr/>
          <p:nvPr/>
        </p:nvCxnSpPr>
        <p:spPr>
          <a:xfrm>
            <a:off x="10538460" y="3822191"/>
            <a:ext cx="0" cy="219457"/>
          </a:xfrm>
          <a:prstGeom prst="line">
            <a:avLst/>
          </a:prstGeom>
          <a:ln w="12700">
            <a:solidFill>
              <a:srgbClr val="52514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3" name="Rounded Rectangle 92"/>
          <p:cNvSpPr/>
          <p:nvPr/>
        </p:nvSpPr>
        <p:spPr>
          <a:xfrm>
            <a:off x="9281160" y="4041648"/>
            <a:ext cx="2514600" cy="804672"/>
          </a:xfrm>
          <a:prstGeom prst="roundRect">
            <a:avLst>
              <a:gd name="adj" fmla="val 8000"/>
            </a:avLst>
          </a:prstGeom>
          <a:solidFill>
            <a:srgbClr val="FCFCFB"/>
          </a:solidFill>
          <a:ln w="12700">
            <a:solidFill>
              <a:srgbClr val="5251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tIns="36576" rIns="54864" bIns="36576"/>
          <a:lstStyle/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900" b="0" i="0">
                <a:solidFill>
                  <a:srgbClr val="0B0B0B"/>
                </a:solidFill>
                <a:latin typeface="Microsoft YaHei"/>
                <a:ea typeface="Microsoft YaHei"/>
              </a:rPr>
              <a:t>z = signed log1p + standardise</a:t>
            </a:r>
          </a:p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1050" b="1" i="0">
                <a:solidFill>
                  <a:srgbClr val="0B0B0B"/>
                </a:solidFill>
                <a:latin typeface="Microsoft YaHei"/>
                <a:ea typeface="Microsoft YaHei"/>
              </a:rPr>
              <a:t>score(m, d) = w·z + b</a:t>
            </a:r>
          </a:p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850" b="0" i="0">
                <a:solidFill>
                  <a:srgbClr val="52514E"/>
                </a:solidFill>
                <a:latin typeface="Microsoft YaHei"/>
                <a:ea typeface="Microsoft YaHei"/>
              </a:rPr>
              <a:t>logistic regression, C = 0.3, ~130 parameters</a:t>
            </a:r>
          </a:p>
        </p:txBody>
      </p:sp>
      <p:cxnSp>
        <p:nvCxnSpPr>
          <p:cNvPr id="94" name="Connector 93"/>
          <p:cNvCxnSpPr/>
          <p:nvPr/>
        </p:nvCxnSpPr>
        <p:spPr>
          <a:xfrm>
            <a:off x="10538460" y="4846320"/>
            <a:ext cx="0" cy="182880"/>
          </a:xfrm>
          <a:prstGeom prst="line">
            <a:avLst/>
          </a:prstGeom>
          <a:ln w="12700">
            <a:solidFill>
              <a:srgbClr val="52514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5" name="Rounded Rectangle 94"/>
          <p:cNvSpPr/>
          <p:nvPr/>
        </p:nvSpPr>
        <p:spPr>
          <a:xfrm>
            <a:off x="9784080" y="5029200"/>
            <a:ext cx="1508760" cy="329184"/>
          </a:xfrm>
          <a:prstGeom prst="roundRect">
            <a:avLst>
              <a:gd name="adj" fmla="val 30000"/>
            </a:avLst>
          </a:prstGeom>
          <a:solidFill>
            <a:srgbClr val="0B0B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>
              <a:lnSpc>
                <a:spcPct val="105000"/>
              </a:lnSpc>
              <a:spcAft>
                <a:spcPts val="150"/>
              </a:spcAft>
            </a:pPr>
            <a:r>
              <a:rPr sz="1100" b="1" i="0">
                <a:solidFill>
                  <a:srgbClr val="FFFFFF"/>
                </a:solidFill>
                <a:latin typeface="Microsoft YaHei"/>
                <a:ea typeface="Microsoft YaHei"/>
              </a:rPr>
              <a:t>score(m, d)</a:t>
            </a:r>
          </a:p>
        </p:txBody>
      </p:sp>
      <p:sp>
        <p:nvSpPr>
          <p:cNvPr id="96" name="Rounded Rectangle 95"/>
          <p:cNvSpPr/>
          <p:nvPr/>
        </p:nvSpPr>
        <p:spPr>
          <a:xfrm>
            <a:off x="411480" y="5650992"/>
            <a:ext cx="2761488" cy="841248"/>
          </a:xfrm>
          <a:prstGeom prst="roundRect">
            <a:avLst>
              <a:gd name="adj" fmla="val 6000"/>
            </a:avLst>
          </a:prstGeom>
          <a:solidFill>
            <a:srgbClr val="F4F3EF"/>
          </a:solidFill>
          <a:ln w="9525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bIns="36576"/>
          <a:lstStyle/>
          <a:p>
            <a:pPr algn="l">
              <a:lnSpc>
                <a:spcPct val="105000"/>
              </a:lnSpc>
              <a:spcAft>
                <a:spcPts val="100"/>
              </a:spcAft>
            </a:pPr>
            <a:r>
              <a:rPr sz="750" b="0" i="0">
                <a:solidFill>
                  <a:srgbClr val="898781"/>
                </a:solidFill>
                <a:latin typeface="Microsoft YaHei"/>
                <a:ea typeface="Microsoft YaHei"/>
              </a:rPr>
              <a:t>MDR · AUC / AUPR (paper 5-fold, 4 seeds)</a:t>
            </a:r>
          </a:p>
          <a:p>
            <a:pPr algn="l">
              <a:lnSpc>
                <a:spcPct val="105000"/>
              </a:lnSpc>
              <a:spcAft>
                <a:spcPts val="100"/>
              </a:spcAft>
            </a:pPr>
            <a:r>
              <a:rPr sz="1400" b="1" i="0">
                <a:solidFill>
                  <a:srgbClr val="0B0B0B"/>
                </a:solidFill>
                <a:latin typeface="Microsoft YaHei"/>
                <a:ea typeface="Microsoft YaHei"/>
              </a:rPr>
              <a:t>0.9591 / 0.9565</a:t>
            </a:r>
          </a:p>
          <a:p>
            <a:pPr algn="l">
              <a:lnSpc>
                <a:spcPct val="105000"/>
              </a:lnSpc>
              <a:spcAft>
                <a:spcPts val="100"/>
              </a:spcAft>
            </a:pPr>
            <a:r>
              <a:rPr sz="750" b="0" i="0">
                <a:solidFill>
                  <a:srgbClr val="006300"/>
                </a:solidFill>
                <a:latin typeface="Microsoft YaHei"/>
                <a:ea typeface="Microsoft YaHei"/>
              </a:rPr>
              <a:t>+0.0062 / +0.0071 vs baseline 0.9529 / 0.9494 (4/4 seeds)</a:t>
            </a:r>
          </a:p>
        </p:txBody>
      </p:sp>
      <p:sp>
        <p:nvSpPr>
          <p:cNvPr id="97" name="Rounded Rectangle 96"/>
          <p:cNvSpPr/>
          <p:nvPr/>
        </p:nvSpPr>
        <p:spPr>
          <a:xfrm>
            <a:off x="3273552" y="5650992"/>
            <a:ext cx="2761488" cy="841248"/>
          </a:xfrm>
          <a:prstGeom prst="roundRect">
            <a:avLst>
              <a:gd name="adj" fmla="val 6000"/>
            </a:avLst>
          </a:prstGeom>
          <a:solidFill>
            <a:srgbClr val="F4F3EF"/>
          </a:solidFill>
          <a:ln w="9525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bIns="36576"/>
          <a:lstStyle/>
          <a:p>
            <a:pPr algn="l">
              <a:lnSpc>
                <a:spcPct val="105000"/>
              </a:lnSpc>
              <a:spcAft>
                <a:spcPts val="100"/>
              </a:spcAft>
            </a:pPr>
            <a:r>
              <a:rPr sz="750" b="0" i="0">
                <a:solidFill>
                  <a:srgbClr val="898781"/>
                </a:solidFill>
                <a:latin typeface="Microsoft YaHei"/>
                <a:ea typeface="Microsoft YaHei"/>
              </a:rPr>
              <a:t>MDS · AUC / AUPR (paper 5-fold, 4 seeds)</a:t>
            </a:r>
          </a:p>
          <a:p>
            <a:pPr algn="l">
              <a:lnSpc>
                <a:spcPct val="105000"/>
              </a:lnSpc>
              <a:spcAft>
                <a:spcPts val="100"/>
              </a:spcAft>
            </a:pPr>
            <a:r>
              <a:rPr sz="1400" b="1" i="0">
                <a:solidFill>
                  <a:srgbClr val="0B0B0B"/>
                </a:solidFill>
                <a:latin typeface="Microsoft YaHei"/>
                <a:ea typeface="Microsoft YaHei"/>
              </a:rPr>
              <a:t>0.9607 / 0.9587</a:t>
            </a:r>
          </a:p>
          <a:p>
            <a:pPr algn="l">
              <a:lnSpc>
                <a:spcPct val="105000"/>
              </a:lnSpc>
              <a:spcAft>
                <a:spcPts val="100"/>
              </a:spcAft>
            </a:pPr>
            <a:r>
              <a:rPr sz="750" b="0" i="0">
                <a:solidFill>
                  <a:srgbClr val="006300"/>
                </a:solidFill>
                <a:latin typeface="Microsoft YaHei"/>
                <a:ea typeface="Microsoft YaHei"/>
              </a:rPr>
              <a:t>+0.0047 / +0.0051 vs baseline 0.9560 / 0.9536 (4/4 seeds)</a:t>
            </a:r>
          </a:p>
        </p:txBody>
      </p:sp>
      <p:sp>
        <p:nvSpPr>
          <p:cNvPr id="98" name="Rounded Rectangle 97"/>
          <p:cNvSpPr/>
          <p:nvPr/>
        </p:nvSpPr>
        <p:spPr>
          <a:xfrm>
            <a:off x="6135624" y="5650992"/>
            <a:ext cx="2761488" cy="841248"/>
          </a:xfrm>
          <a:prstGeom prst="roundRect">
            <a:avLst>
              <a:gd name="adj" fmla="val 6000"/>
            </a:avLst>
          </a:prstGeom>
          <a:solidFill>
            <a:srgbClr val="F4F3EF"/>
          </a:solidFill>
          <a:ln w="9525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bIns="36576"/>
          <a:lstStyle/>
          <a:p>
            <a:pPr algn="l">
              <a:lnSpc>
                <a:spcPct val="105000"/>
              </a:lnSpc>
              <a:spcAft>
                <a:spcPts val="100"/>
              </a:spcAft>
            </a:pPr>
            <a:r>
              <a:rPr sz="750" b="0" i="0">
                <a:solidFill>
                  <a:srgbClr val="898781"/>
                </a:solidFill>
                <a:latin typeface="Microsoft YaHei"/>
                <a:ea typeface="Microsoft YaHei"/>
              </a:rPr>
              <a:t>Shuffle control (provenance + side info permuted)</a:t>
            </a:r>
          </a:p>
          <a:p>
            <a:pPr algn="l">
              <a:lnSpc>
                <a:spcPct val="105000"/>
              </a:lnSpc>
              <a:spcAft>
                <a:spcPts val="100"/>
              </a:spcAft>
            </a:pPr>
            <a:r>
              <a:rPr sz="1400" b="1" i="0">
                <a:solidFill>
                  <a:srgbClr val="0B0B0B"/>
                </a:solidFill>
                <a:latin typeface="Microsoft YaHei"/>
                <a:ea typeface="Microsoft YaHei"/>
              </a:rPr>
              <a:t>Δ ≈ 0</a:t>
            </a:r>
          </a:p>
          <a:p>
            <a:pPr algn="l">
              <a:lnSpc>
                <a:spcPct val="105000"/>
              </a:lnSpc>
              <a:spcAft>
                <a:spcPts val="100"/>
              </a:spcAft>
            </a:pPr>
            <a:r>
              <a:rPr sz="750" b="0" i="0">
                <a:solidFill>
                  <a:srgbClr val="52514E"/>
                </a:solidFill>
                <a:latin typeface="Microsoft YaHei"/>
                <a:ea typeface="Microsoft YaHei"/>
              </a:rPr>
              <a:t>+0.0007 / +0.0011 AUC: the gain is not the extra columns</a:t>
            </a:r>
          </a:p>
        </p:txBody>
      </p:sp>
      <p:sp>
        <p:nvSpPr>
          <p:cNvPr id="99" name="Rounded Rectangle 98"/>
          <p:cNvSpPr/>
          <p:nvPr/>
        </p:nvSpPr>
        <p:spPr>
          <a:xfrm>
            <a:off x="8997696" y="5650992"/>
            <a:ext cx="2761488" cy="841248"/>
          </a:xfrm>
          <a:prstGeom prst="roundRect">
            <a:avLst>
              <a:gd name="adj" fmla="val 6000"/>
            </a:avLst>
          </a:prstGeom>
          <a:solidFill>
            <a:srgbClr val="F4F3EF"/>
          </a:solidFill>
          <a:ln w="9525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bIns="36576"/>
          <a:lstStyle/>
          <a:p>
            <a:pPr algn="l">
              <a:lnSpc>
                <a:spcPct val="105000"/>
              </a:lnSpc>
              <a:spcAft>
                <a:spcPts val="100"/>
              </a:spcAft>
            </a:pPr>
            <a:r>
              <a:rPr sz="750" b="0" i="0">
                <a:solidFill>
                  <a:srgbClr val="898781"/>
                </a:solidFill>
                <a:latin typeface="Microsoft YaHei"/>
                <a:ea typeface="Microsoft YaHei"/>
              </a:rPr>
              <a:t>Where the gain lands</a:t>
            </a:r>
          </a:p>
          <a:p>
            <a:pPr algn="l">
              <a:lnSpc>
                <a:spcPct val="105000"/>
              </a:lnSpc>
              <a:spcAft>
                <a:spcPts val="100"/>
              </a:spcAft>
            </a:pPr>
            <a:r>
              <a:rPr sz="1400" b="1" i="0">
                <a:solidFill>
                  <a:srgbClr val="0B0B0B"/>
                </a:solidFill>
                <a:latin typeface="Microsoft YaHei"/>
                <a:ea typeface="Microsoft YaHei"/>
              </a:rPr>
              <a:t>sparse miRNAs</a:t>
            </a:r>
          </a:p>
          <a:p>
            <a:pPr algn="l">
              <a:lnSpc>
                <a:spcPct val="105000"/>
              </a:lnSpc>
              <a:spcAft>
                <a:spcPts val="100"/>
              </a:spcAft>
            </a:pPr>
            <a:r>
              <a:rPr sz="750" b="0" i="0">
                <a:solidFill>
                  <a:srgbClr val="52514E"/>
                </a:solidFill>
                <a:latin typeface="Microsoft YaHei"/>
                <a:ea typeface="Microsoft YaHei"/>
              </a:rPr>
              <a:t>loss on support-degree 1–7 positives drops 8–15%; 16+ flat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411480" y="6528816"/>
            <a:ext cx="11338560" cy="228600"/>
          </a:xfrm>
          <a:prstGeom prst="rect">
            <a:avLst/>
          </a:prstGeom>
          <a:noFill/>
        </p:spPr>
        <p:txBody>
          <a:bodyPr wrap="square" lIns="18288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150"/>
              </a:spcAft>
            </a:pPr>
            <a:r>
              <a:rPr sz="700" b="0" i="0">
                <a:solidFill>
                  <a:srgbClr val="898781"/>
                </a:solidFill>
                <a:latin typeface="Microsoft YaHei"/>
                <a:ea typeface="Microsoft YaHei"/>
              </a:rPr>
              <a:t>Numbers from REPORT_WARM_PHL.md §0, §4.1, §4.3; baseline = ctx+diff × LR (K=10); +0.033–0.035 AUC / +0.040–0.042 AUPR over the PLMF-MDA official reproduction.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28600"/>
            <a:ext cx="11338560" cy="438912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pPr algn="l">
              <a:lnSpc>
                <a:spcPct val="105000"/>
              </a:lnSpc>
              <a:spcAft>
                <a:spcPts val="150"/>
              </a:spcAft>
            </a:pPr>
            <a:r>
              <a:rPr sz="2000" b="1" i="0">
                <a:solidFill>
                  <a:srgbClr val="0B0B0B"/>
                </a:solidFill>
                <a:latin typeface="Microsoft YaHei"/>
                <a:ea typeface="Microsoft YaHei"/>
              </a:rPr>
              <a:t>Diagnosis: the warm residual sits on sparse miRNAs, and so does the PHL gain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676656"/>
            <a:ext cx="11338560" cy="411480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pPr algn="l">
              <a:lnSpc>
                <a:spcPct val="105000"/>
              </a:lnSpc>
              <a:spcAft>
                <a:spcPts val="150"/>
              </a:spcAft>
            </a:pPr>
            <a:r>
              <a:rPr sz="1000" b="0" i="0">
                <a:solidFill>
                  <a:srgbClr val="52514E"/>
                </a:solidFill>
                <a:latin typeface="Microsoft YaHei"/>
                <a:ea typeface="Microsoft YaHei"/>
              </a:rPr>
              <a:t>seed 42, paper 5-fold. Loss = fraction of negatives ranked above each test positive (mean = 1 − AUC); bucketed by miRNA degree in the training support graph.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1234440"/>
            <a:ext cx="3346703" cy="274320"/>
          </a:xfrm>
          <a:prstGeom prst="rect">
            <a:avLst/>
          </a:prstGeom>
          <a:noFill/>
        </p:spPr>
        <p:txBody>
          <a:bodyPr wrap="square" lIns="18288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150"/>
              </a:spcAft>
            </a:pPr>
            <a:r>
              <a:rPr sz="950" b="1" i="0">
                <a:solidFill>
                  <a:srgbClr val="0B0B0B"/>
                </a:solidFill>
                <a:latin typeface="Microsoft YaHei"/>
                <a:ea typeface="Microsoft YaHei"/>
              </a:rPr>
              <a:t>MDR · share of positives vs share of loss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758183" y="1234440"/>
            <a:ext cx="2231136" cy="274320"/>
          </a:xfrm>
          <a:prstGeom prst="rect">
            <a:avLst/>
          </a:prstGeom>
          <a:noFill/>
        </p:spPr>
        <p:txBody>
          <a:bodyPr wrap="square" lIns="0" tIns="0" rIns="18288" bIns="0" anchor="ctr">
            <a:spAutoFit/>
          </a:bodyPr>
          <a:lstStyle/>
          <a:p>
            <a:pPr algn="r">
              <a:lnSpc>
                <a:spcPct val="105000"/>
              </a:lnSpc>
              <a:spcAft>
                <a:spcPts val="150"/>
              </a:spcAft>
            </a:pPr>
            <a:r>
              <a:rPr sz="800" b="0" i="0">
                <a:solidFill>
                  <a:srgbClr val="52514E"/>
                </a:solidFill>
                <a:latin typeface="Microsoft YaHei"/>
                <a:ea typeface="Microsoft YaHei"/>
              </a:rPr>
              <a:t>degree ≤3: 40% of positives, 55% of loss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411480" y="1508760"/>
          <a:ext cx="5577840" cy="23317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199632" y="1234440"/>
            <a:ext cx="3346703" cy="274320"/>
          </a:xfrm>
          <a:prstGeom prst="rect">
            <a:avLst/>
          </a:prstGeom>
          <a:noFill/>
        </p:spPr>
        <p:txBody>
          <a:bodyPr wrap="square" lIns="18288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150"/>
              </a:spcAft>
            </a:pPr>
            <a:r>
              <a:rPr sz="950" b="1" i="0">
                <a:solidFill>
                  <a:srgbClr val="0B0B0B"/>
                </a:solidFill>
                <a:latin typeface="Microsoft YaHei"/>
                <a:ea typeface="Microsoft YaHei"/>
              </a:rPr>
              <a:t>MDR · mean loss per positive, baseline vs PHL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546336" y="1234440"/>
            <a:ext cx="2231136" cy="274320"/>
          </a:xfrm>
          <a:prstGeom prst="rect">
            <a:avLst/>
          </a:prstGeom>
          <a:noFill/>
        </p:spPr>
        <p:txBody>
          <a:bodyPr wrap="square" lIns="0" tIns="0" rIns="18288" bIns="0" anchor="ctr">
            <a:spAutoFit/>
          </a:bodyPr>
          <a:lstStyle/>
          <a:p>
            <a:pPr algn="r">
              <a:lnSpc>
                <a:spcPct val="105000"/>
              </a:lnSpc>
              <a:spcAft>
                <a:spcPts val="150"/>
              </a:spcAft>
            </a:pPr>
            <a:r>
              <a:rPr sz="800" b="0" i="0">
                <a:solidFill>
                  <a:srgbClr val="52514E"/>
                </a:solidFill>
                <a:latin typeface="Microsoft YaHei"/>
                <a:ea typeface="Microsoft YaHei"/>
              </a:rPr>
              <a:t>degree 1–7: 13–15% relative drop; 16+ flat</a:t>
            </a:r>
          </a:p>
        </p:txBody>
      </p:sp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6199632" y="1508760"/>
          <a:ext cx="5577840" cy="233172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411480" y="3886200"/>
            <a:ext cx="3346703" cy="274320"/>
          </a:xfrm>
          <a:prstGeom prst="rect">
            <a:avLst/>
          </a:prstGeom>
          <a:noFill/>
        </p:spPr>
        <p:txBody>
          <a:bodyPr wrap="square" lIns="18288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150"/>
              </a:spcAft>
            </a:pPr>
            <a:r>
              <a:rPr sz="950" b="1" i="0">
                <a:solidFill>
                  <a:srgbClr val="0B0B0B"/>
                </a:solidFill>
                <a:latin typeface="Microsoft YaHei"/>
                <a:ea typeface="Microsoft YaHei"/>
              </a:rPr>
              <a:t>MDS · share of positives vs share of loss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58183" y="3886200"/>
            <a:ext cx="2231136" cy="274320"/>
          </a:xfrm>
          <a:prstGeom prst="rect">
            <a:avLst/>
          </a:prstGeom>
          <a:noFill/>
        </p:spPr>
        <p:txBody>
          <a:bodyPr wrap="square" lIns="0" tIns="0" rIns="18288" bIns="0" anchor="ctr">
            <a:spAutoFit/>
          </a:bodyPr>
          <a:lstStyle/>
          <a:p>
            <a:pPr algn="r">
              <a:lnSpc>
                <a:spcPct val="105000"/>
              </a:lnSpc>
              <a:spcAft>
                <a:spcPts val="150"/>
              </a:spcAft>
            </a:pPr>
            <a:r>
              <a:rPr sz="800" b="0" i="0">
                <a:solidFill>
                  <a:srgbClr val="52514E"/>
                </a:solidFill>
                <a:latin typeface="Microsoft YaHei"/>
                <a:ea typeface="Microsoft YaHei"/>
              </a:rPr>
              <a:t>degree ≤3: 40% of positives, 57% of loss</a:t>
            </a:r>
          </a:p>
        </p:txBody>
      </p:sp>
      <p:graphicFrame>
        <p:nvGraphicFramePr>
          <p:cNvPr id="12" name="Chart 11"/>
          <p:cNvGraphicFramePr>
            <a:graphicFrameLocks noGrp="1"/>
          </p:cNvGraphicFramePr>
          <p:nvPr/>
        </p:nvGraphicFramePr>
        <p:xfrm>
          <a:off x="411480" y="4160520"/>
          <a:ext cx="5577840" cy="233172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6199632" y="3886200"/>
            <a:ext cx="3346703" cy="274320"/>
          </a:xfrm>
          <a:prstGeom prst="rect">
            <a:avLst/>
          </a:prstGeom>
          <a:noFill/>
        </p:spPr>
        <p:txBody>
          <a:bodyPr wrap="square" lIns="18288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150"/>
              </a:spcAft>
            </a:pPr>
            <a:r>
              <a:rPr sz="950" b="1" i="0">
                <a:solidFill>
                  <a:srgbClr val="0B0B0B"/>
                </a:solidFill>
                <a:latin typeface="Microsoft YaHei"/>
                <a:ea typeface="Microsoft YaHei"/>
              </a:rPr>
              <a:t>MDS · mean loss per positive, baseline vs PHL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546336" y="3886200"/>
            <a:ext cx="2231136" cy="274320"/>
          </a:xfrm>
          <a:prstGeom prst="rect">
            <a:avLst/>
          </a:prstGeom>
          <a:noFill/>
        </p:spPr>
        <p:txBody>
          <a:bodyPr wrap="square" lIns="0" tIns="0" rIns="18288" bIns="0" anchor="ctr">
            <a:spAutoFit/>
          </a:bodyPr>
          <a:lstStyle/>
          <a:p>
            <a:pPr algn="r">
              <a:lnSpc>
                <a:spcPct val="105000"/>
              </a:lnSpc>
              <a:spcAft>
                <a:spcPts val="150"/>
              </a:spcAft>
            </a:pPr>
            <a:r>
              <a:rPr sz="800" b="0" i="0">
                <a:solidFill>
                  <a:srgbClr val="52514E"/>
                </a:solidFill>
                <a:latin typeface="Microsoft YaHei"/>
                <a:ea typeface="Microsoft YaHei"/>
              </a:rPr>
              <a:t>degree 1–7: 8–14% relative drop; 16+ flat</a:t>
            </a:r>
          </a:p>
        </p:txBody>
      </p:sp>
      <p:graphicFrame>
        <p:nvGraphicFramePr>
          <p:cNvPr id="15" name="Chart 14"/>
          <p:cNvGraphicFramePr>
            <a:graphicFrameLocks noGrp="1"/>
          </p:cNvGraphicFramePr>
          <p:nvPr/>
        </p:nvGraphicFramePr>
        <p:xfrm>
          <a:off x="6199632" y="4160520"/>
          <a:ext cx="5577840" cy="2331720"/>
        </p:xfrm>
        <a:graphic>
          <a:graphicData uri="http://schemas.openxmlformats.org/drawingml/2006/chart">
            <c:chart xmlns:c="http://schemas.openxmlformats.org/drawingml/2006/chart" r:id="rId5"/>
          </a:graphicData>
        </a:graphic>
      </p:graphicFrame>
      <p:sp>
        <p:nvSpPr>
          <p:cNvPr id="16" name="TextBox 15"/>
          <p:cNvSpPr txBox="1"/>
          <p:nvPr/>
        </p:nvSpPr>
        <p:spPr>
          <a:xfrm>
            <a:off x="411480" y="6528816"/>
            <a:ext cx="11338560" cy="228600"/>
          </a:xfrm>
          <a:prstGeom prst="rect">
            <a:avLst/>
          </a:prstGeom>
          <a:noFill/>
        </p:spPr>
        <p:txBody>
          <a:bodyPr wrap="square" lIns="18288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150"/>
              </a:spcAft>
            </a:pPr>
            <a:r>
              <a:rPr sz="700" b="0" i="0">
                <a:solidFill>
                  <a:srgbClr val="898781"/>
                </a:solidFill>
                <a:latin typeface="Microsoft YaHei"/>
                <a:ea typeface="Microsoft YaHei"/>
              </a:rPr>
              <a:t>Numbers from REPORT_WARM_PHL.md §1.1, §4.3 (error_analysis.py).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